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5"/>
    <p:sldMasterId id="214748367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y="5143500" cx="9144000"/>
  <p:notesSz cx="6858000" cy="9144000"/>
  <p:embeddedFontLst>
    <p:embeddedFont>
      <p:font typeface="Nanum Myeongjo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3BDD2F1-3645-4391-9540-F3B86AFE3CE9}">
  <a:tblStyle styleId="{E3BDD2F1-3645-4391-9540-F3B86AFE3CE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11" Type="http://schemas.openxmlformats.org/officeDocument/2006/relationships/slide" Target="slides/slide4.xml"/><Relationship Id="rId22" Type="http://schemas.openxmlformats.org/officeDocument/2006/relationships/font" Target="fonts/NanumMyeongjo-bold.fntdata"/><Relationship Id="rId10" Type="http://schemas.openxmlformats.org/officeDocument/2006/relationships/slide" Target="slides/slide3.xml"/><Relationship Id="rId21" Type="http://schemas.openxmlformats.org/officeDocument/2006/relationships/slide" Target="slides/slide14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2.xml"/><Relationship Id="rId6" Type="http://schemas.openxmlformats.org/officeDocument/2006/relationships/slideMaster" Target="slideMasters/slideMaster2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3ce7c6f6fa_11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3ce7c6f6fa_11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3ce7c6f6fa_11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3ce7c6f6fa_11_8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3ce7c6f6fa_11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33ce7c6f6fa_11_1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3ce7c6f6fa_11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3ce7c6f6fa_11_1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3db8f42a0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33db8f42a00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3ce7c6f6fa_1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g33ce7c6f6fa_12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3ce7c6f6fa_12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33ce7c6f6fa_12_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3ce7c6f6fa_11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g33ce7c6f6fa_11_18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3ce7c6f6fa_11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g33ce7c6f6fa_11_1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3ce7c6f6fa_11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g33ce7c6f6fa_11_26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3ce7c6f6fa_12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g33ce7c6f6fa_12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3ce7c6f6fa_11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g33ce7c6f6fa_11_28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3ce7c6f6fa_11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g33ce7c6f6fa_11_29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3ce7c6f6fa_11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g33ce7c6f6fa_11_30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342900" y="1065213"/>
            <a:ext cx="3886200" cy="7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228600" y="800100"/>
            <a:ext cx="4114800" cy="22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361156" y="2203450"/>
            <a:ext cx="3886200" cy="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 cap="none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61156" y="1453357"/>
            <a:ext cx="3886200" cy="7500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228600" y="800100"/>
            <a:ext cx="2019300" cy="22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2324100" y="800100"/>
            <a:ext cx="2019300" cy="22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228600" y="767556"/>
            <a:ext cx="2020200" cy="3198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228600" y="1087438"/>
            <a:ext cx="2020200" cy="19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2322513" y="767556"/>
            <a:ext cx="2020800" cy="3198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2322513" y="1087438"/>
            <a:ext cx="2020800" cy="19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228600" y="136525"/>
            <a:ext cx="15042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1787525" y="136525"/>
            <a:ext cx="2556000" cy="29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228600" y="717550"/>
            <a:ext cx="1504200" cy="23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96144" y="2400300"/>
            <a:ext cx="27432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96144" y="2683669"/>
            <a:ext cx="27432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1154550" y="-125850"/>
            <a:ext cx="22629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2366100" y="1085919"/>
            <a:ext cx="29259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270600" y="95319"/>
            <a:ext cx="2925900" cy="30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>
              <a:spcBef>
                <a:spcPts val="300"/>
              </a:spcBef>
              <a:spcAft>
                <a:spcPts val="0"/>
              </a:spcAft>
              <a:buSzPts val="1600"/>
              <a:buChar char="•"/>
              <a:defRPr/>
            </a:lvl1pPr>
            <a:lvl2pPr indent="-317500" lvl="1" marL="914400">
              <a:spcBef>
                <a:spcPts val="300"/>
              </a:spcBef>
              <a:spcAft>
                <a:spcPts val="0"/>
              </a:spcAft>
              <a:buSzPts val="1400"/>
              <a:buChar char="–"/>
              <a:defRPr/>
            </a:lvl2pPr>
            <a:lvl3pPr indent="-304800" lvl="2" marL="1371600">
              <a:spcBef>
                <a:spcPts val="200"/>
              </a:spcBef>
              <a:spcAft>
                <a:spcPts val="0"/>
              </a:spcAft>
              <a:buSzPts val="1200"/>
              <a:buChar char="•"/>
              <a:defRPr/>
            </a:lvl3pPr>
            <a:lvl4pPr indent="-292100" lvl="3" marL="1828800">
              <a:spcBef>
                <a:spcPts val="200"/>
              </a:spcBef>
              <a:spcAft>
                <a:spcPts val="0"/>
              </a:spcAft>
              <a:buSzPts val="1000"/>
              <a:buChar char="–"/>
              <a:defRPr/>
            </a:lvl4pPr>
            <a:lvl5pPr indent="-292100" lvl="4" marL="2286000">
              <a:spcBef>
                <a:spcPts val="200"/>
              </a:spcBef>
              <a:spcAft>
                <a:spcPts val="0"/>
              </a:spcAft>
              <a:buSzPts val="1000"/>
              <a:buChar char="»"/>
              <a:defRPr/>
            </a:lvl5pPr>
            <a:lvl6pPr indent="-292100" lvl="5" marL="2743200">
              <a:spcBef>
                <a:spcPts val="200"/>
              </a:spcBef>
              <a:spcAft>
                <a:spcPts val="0"/>
              </a:spcAft>
              <a:buSzPts val="1000"/>
              <a:buChar char="•"/>
              <a:defRPr/>
            </a:lvl6pPr>
            <a:lvl7pPr indent="-292100" lvl="6" marL="3200400">
              <a:spcBef>
                <a:spcPts val="200"/>
              </a:spcBef>
              <a:spcAft>
                <a:spcPts val="0"/>
              </a:spcAft>
              <a:buSzPts val="1000"/>
              <a:buChar char="•"/>
              <a:defRPr/>
            </a:lvl7pPr>
            <a:lvl8pPr indent="-292100" lvl="7" marL="3657600">
              <a:spcBef>
                <a:spcPts val="200"/>
              </a:spcBef>
              <a:spcAft>
                <a:spcPts val="0"/>
              </a:spcAft>
              <a:buSzPts val="1000"/>
              <a:buChar char="•"/>
              <a:defRPr/>
            </a:lvl8pPr>
            <a:lvl9pPr indent="-292100" lvl="8" marL="4114800">
              <a:spcBef>
                <a:spcPts val="200"/>
              </a:spcBef>
              <a:spcAft>
                <a:spcPts val="0"/>
              </a:spcAft>
              <a:buSzPts val="1000"/>
              <a:buChar char="•"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22850" lIns="45725" spcFirstLastPara="1" rIns="45725" wrap="square" tIns="2285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2" name="Google Shape;92;p15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3" name="Google Shape;93;p15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6"/>
          <p:cNvSpPr txBox="1"/>
          <p:nvPr>
            <p:ph type="ctrTitle"/>
          </p:nvPr>
        </p:nvSpPr>
        <p:spPr>
          <a:xfrm>
            <a:off x="342900" y="1065213"/>
            <a:ext cx="3886200" cy="735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6" name="Google Shape;96;p16"/>
          <p:cNvSpPr txBox="1"/>
          <p:nvPr>
            <p:ph idx="1" type="subTitle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7" name="Google Shape;97;p16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8" name="Google Shape;98;p16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9" name="Google Shape;99;p16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2" name="Google Shape;102;p17"/>
          <p:cNvSpPr txBox="1"/>
          <p:nvPr>
            <p:ph idx="1" type="body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03" name="Google Shape;103;p17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4" name="Google Shape;104;p17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5" name="Google Shape;105;p17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 txBox="1"/>
          <p:nvPr>
            <p:ph type="title"/>
          </p:nvPr>
        </p:nvSpPr>
        <p:spPr>
          <a:xfrm>
            <a:off x="361156" y="2203450"/>
            <a:ext cx="3886200" cy="681038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 cap="none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8" name="Google Shape;108;p18"/>
          <p:cNvSpPr txBox="1"/>
          <p:nvPr>
            <p:ph idx="1" type="body"/>
          </p:nvPr>
        </p:nvSpPr>
        <p:spPr>
          <a:xfrm>
            <a:off x="361156" y="1453357"/>
            <a:ext cx="3886200" cy="750094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9" name="Google Shape;109;p18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0" name="Google Shape;110;p18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1" name="Google Shape;111;p18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4" name="Google Shape;114;p19"/>
          <p:cNvSpPr txBox="1"/>
          <p:nvPr>
            <p:ph idx="1" type="body"/>
          </p:nvPr>
        </p:nvSpPr>
        <p:spPr>
          <a:xfrm>
            <a:off x="2286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115" name="Google Shape;115;p19"/>
          <p:cNvSpPr txBox="1"/>
          <p:nvPr>
            <p:ph idx="2" type="body"/>
          </p:nvPr>
        </p:nvSpPr>
        <p:spPr>
          <a:xfrm>
            <a:off x="23241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116" name="Google Shape;116;p19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7" name="Google Shape;117;p19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8" name="Google Shape;118;p19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0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1" name="Google Shape;121;p20"/>
          <p:cNvSpPr txBox="1"/>
          <p:nvPr>
            <p:ph idx="1" type="body"/>
          </p:nvPr>
        </p:nvSpPr>
        <p:spPr>
          <a:xfrm>
            <a:off x="228600" y="767556"/>
            <a:ext cx="2020094" cy="319881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122" name="Google Shape;122;p20"/>
          <p:cNvSpPr txBox="1"/>
          <p:nvPr>
            <p:ph idx="2" type="body"/>
          </p:nvPr>
        </p:nvSpPr>
        <p:spPr>
          <a:xfrm>
            <a:off x="228600" y="1087438"/>
            <a:ext cx="2020094" cy="1975644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123" name="Google Shape;123;p20"/>
          <p:cNvSpPr txBox="1"/>
          <p:nvPr>
            <p:ph idx="3" type="body"/>
          </p:nvPr>
        </p:nvSpPr>
        <p:spPr>
          <a:xfrm>
            <a:off x="2322513" y="767556"/>
            <a:ext cx="2020888" cy="319881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124" name="Google Shape;124;p20"/>
          <p:cNvSpPr txBox="1"/>
          <p:nvPr>
            <p:ph idx="4" type="body"/>
          </p:nvPr>
        </p:nvSpPr>
        <p:spPr>
          <a:xfrm>
            <a:off x="2322513" y="1087438"/>
            <a:ext cx="2020888" cy="1975644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125" name="Google Shape;125;p20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6" name="Google Shape;126;p20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7" name="Google Shape;127;p20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1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30" name="Google Shape;130;p21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31" name="Google Shape;131;p21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32" name="Google Shape;132;p21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2"/>
          <p:cNvSpPr txBox="1"/>
          <p:nvPr>
            <p:ph type="title"/>
          </p:nvPr>
        </p:nvSpPr>
        <p:spPr>
          <a:xfrm>
            <a:off x="228600" y="136525"/>
            <a:ext cx="1504157" cy="581025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35" name="Google Shape;135;p22"/>
          <p:cNvSpPr txBox="1"/>
          <p:nvPr>
            <p:ph idx="1" type="body"/>
          </p:nvPr>
        </p:nvSpPr>
        <p:spPr>
          <a:xfrm>
            <a:off x="1787525" y="136525"/>
            <a:ext cx="2555875" cy="2926557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136" name="Google Shape;136;p22"/>
          <p:cNvSpPr txBox="1"/>
          <p:nvPr>
            <p:ph idx="2" type="body"/>
          </p:nvPr>
        </p:nvSpPr>
        <p:spPr>
          <a:xfrm>
            <a:off x="228600" y="717550"/>
            <a:ext cx="1504157" cy="234553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37" name="Google Shape;137;p22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38" name="Google Shape;138;p22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39" name="Google Shape;139;p22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3"/>
          <p:cNvSpPr txBox="1"/>
          <p:nvPr>
            <p:ph type="title"/>
          </p:nvPr>
        </p:nvSpPr>
        <p:spPr>
          <a:xfrm>
            <a:off x="896144" y="2400300"/>
            <a:ext cx="2743200" cy="283369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42" name="Google Shape;142;p23"/>
          <p:cNvSpPr/>
          <p:nvPr>
            <p:ph idx="2" type="pic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23"/>
          <p:cNvSpPr txBox="1"/>
          <p:nvPr>
            <p:ph idx="1" type="body"/>
          </p:nvPr>
        </p:nvSpPr>
        <p:spPr>
          <a:xfrm>
            <a:off x="896144" y="2683669"/>
            <a:ext cx="2743200" cy="4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44" name="Google Shape;144;p23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45" name="Google Shape;145;p23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46" name="Google Shape;146;p23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4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49" name="Google Shape;149;p24"/>
          <p:cNvSpPr txBox="1"/>
          <p:nvPr>
            <p:ph idx="1" type="body"/>
          </p:nvPr>
        </p:nvSpPr>
        <p:spPr>
          <a:xfrm rot="5400000">
            <a:off x="1154509" y="-125809"/>
            <a:ext cx="2262982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50" name="Google Shape;150;p24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51" name="Google Shape;151;p24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52" name="Google Shape;152;p24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5"/>
          <p:cNvSpPr txBox="1"/>
          <p:nvPr>
            <p:ph type="title"/>
          </p:nvPr>
        </p:nvSpPr>
        <p:spPr>
          <a:xfrm rot="5400000">
            <a:off x="2366169" y="1085850"/>
            <a:ext cx="2925763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55" name="Google Shape;155;p25"/>
          <p:cNvSpPr txBox="1"/>
          <p:nvPr>
            <p:ph idx="1" type="body"/>
          </p:nvPr>
        </p:nvSpPr>
        <p:spPr>
          <a:xfrm rot="5400000">
            <a:off x="270669" y="95250"/>
            <a:ext cx="2925763" cy="30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56" name="Google Shape;156;p25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57" name="Google Shape;157;p25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58" name="Google Shape;158;p25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2" Type="http://schemas.openxmlformats.org/officeDocument/2006/relationships/theme" Target="../theme/theme3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28600" y="800100"/>
            <a:ext cx="4114800" cy="22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100" lvl="3" marL="1828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100" lvl="4" marL="22860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2100" lvl="5" marL="27432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100" lvl="6" marL="32004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100" lvl="7" marL="3657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100" lvl="8" marL="4114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/>
        </p:txBody>
      </p:sp>
      <p:sp>
        <p:nvSpPr>
          <p:cNvPr id="86" name="Google Shape;86;p14"/>
          <p:cNvSpPr txBox="1"/>
          <p:nvPr>
            <p:ph idx="1" type="body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100" lvl="3" marL="1828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100" lvl="4" marL="22860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2100" lvl="5" marL="27432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100" lvl="6" marL="32004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100" lvl="7" marL="3657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100" lvl="8" marL="4114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14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14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" name="Google Shape;89;p14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5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store.steampowered.com/app/3143710/PUBG_BLINDSPOT/?l=koreana" TargetMode="External"/><Relationship Id="rId4" Type="http://schemas.openxmlformats.org/officeDocument/2006/relationships/hyperlink" Target="https://thewiki.kr/w/%EB%A0%88%EC%9D%B8%EB%B3%B4%EC%9A%B0%20%EC%8B%9D%EC%8A%A4%20%EC%8B%9C%EC%A6%88/%EB%A7%B5/%EC%A0%80%ED%83%9D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dealsite.co.kr/articles/114750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6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7545" l="-4259" r="-3486" t="-9912"/>
            </a:stretch>
          </a:blipFill>
          <a:ln>
            <a:noFill/>
          </a:ln>
        </p:spPr>
      </p:sp>
      <p:grpSp>
        <p:nvGrpSpPr>
          <p:cNvPr id="164" name="Google Shape;164;p26"/>
          <p:cNvGrpSpPr/>
          <p:nvPr/>
        </p:nvGrpSpPr>
        <p:grpSpPr>
          <a:xfrm>
            <a:off x="-4" y="-107418"/>
            <a:ext cx="9256450" cy="5358329"/>
            <a:chOff x="0" y="-47625"/>
            <a:chExt cx="4875922" cy="2822550"/>
          </a:xfrm>
        </p:grpSpPr>
        <p:sp>
          <p:nvSpPr>
            <p:cNvPr id="165" name="Google Shape;165;p26"/>
            <p:cNvSpPr/>
            <p:nvPr/>
          </p:nvSpPr>
          <p:spPr>
            <a:xfrm>
              <a:off x="0" y="0"/>
              <a:ext cx="4875922" cy="2774925"/>
            </a:xfrm>
            <a:custGeom>
              <a:rect b="b" l="l" r="r" t="t"/>
              <a:pathLst>
                <a:path extrusionOk="0" h="2774925" w="4875922">
                  <a:moveTo>
                    <a:pt x="0" y="0"/>
                  </a:moveTo>
                  <a:lnTo>
                    <a:pt x="4875922" y="0"/>
                  </a:lnTo>
                  <a:lnTo>
                    <a:pt x="4875922" y="2774925"/>
                  </a:lnTo>
                  <a:lnTo>
                    <a:pt x="0" y="2774925"/>
                  </a:lnTo>
                  <a:close/>
                </a:path>
              </a:pathLst>
            </a:custGeom>
            <a:solidFill>
              <a:srgbClr val="AB9E9C">
                <a:alpha val="29803"/>
              </a:srgbClr>
            </a:solidFill>
            <a:ln>
              <a:noFill/>
            </a:ln>
          </p:spPr>
        </p:sp>
        <p:sp>
          <p:nvSpPr>
            <p:cNvPr id="166" name="Google Shape;166;p26"/>
            <p:cNvSpPr txBox="1"/>
            <p:nvPr/>
          </p:nvSpPr>
          <p:spPr>
            <a:xfrm>
              <a:off x="0" y="-47625"/>
              <a:ext cx="4875922" cy="2822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67" name="Google Shape;167;p26"/>
          <p:cNvCxnSpPr/>
          <p:nvPr/>
        </p:nvCxnSpPr>
        <p:spPr>
          <a:xfrm>
            <a:off x="514350" y="4736467"/>
            <a:ext cx="8182828" cy="0"/>
          </a:xfrm>
          <a:prstGeom prst="straightConnector1">
            <a:avLst/>
          </a:prstGeom>
          <a:noFill/>
          <a:ln cap="flat" cmpd="sng" w="19050">
            <a:solidFill>
              <a:srgbClr val="66565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8" name="Google Shape;168;p26"/>
          <p:cNvSpPr txBox="1"/>
          <p:nvPr/>
        </p:nvSpPr>
        <p:spPr>
          <a:xfrm>
            <a:off x="4691250" y="2011525"/>
            <a:ext cx="4452900" cy="15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5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4500">
                <a:solidFill>
                  <a:srgbClr val="704F48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캡스톤 디자인 </a:t>
            </a:r>
            <a:endParaRPr b="1" sz="4500">
              <a:solidFill>
                <a:srgbClr val="704F48"/>
              </a:solidFill>
              <a:latin typeface="Nanum Myeongjo"/>
              <a:ea typeface="Nanum Myeongjo"/>
              <a:cs typeface="Nanum Myeongjo"/>
              <a:sym typeface="Nanum Myeongjo"/>
            </a:endParaRPr>
          </a:p>
          <a:p>
            <a:pPr indent="0" lvl="0" marL="0" marR="0" rtl="0" algn="l">
              <a:lnSpc>
                <a:spcPct val="125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4500">
                <a:solidFill>
                  <a:srgbClr val="704F48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계획 발표</a:t>
            </a:r>
            <a:endParaRPr sz="4500"/>
          </a:p>
        </p:txBody>
      </p:sp>
      <p:sp>
        <p:nvSpPr>
          <p:cNvPr id="169" name="Google Shape;169;p26"/>
          <p:cNvSpPr txBox="1"/>
          <p:nvPr/>
        </p:nvSpPr>
        <p:spPr>
          <a:xfrm>
            <a:off x="2572083" y="4320970"/>
            <a:ext cx="6125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704F48"/>
                </a:solidFill>
              </a:rPr>
              <a:t>팀 MSG</a:t>
            </a:r>
            <a:br>
              <a:rPr b="1" lang="ko" sz="1200">
                <a:solidFill>
                  <a:srgbClr val="704F48"/>
                </a:solidFill>
              </a:rPr>
            </a:br>
            <a:r>
              <a:rPr b="1" lang="ko" sz="1200">
                <a:solidFill>
                  <a:srgbClr val="704F48"/>
                </a:solidFill>
              </a:rPr>
              <a:t>      김지용, 조민기, 홍준용	</a:t>
            </a:r>
            <a:endParaRPr sz="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0EB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4" name="Google Shape;174;p27"/>
          <p:cNvCxnSpPr/>
          <p:nvPr/>
        </p:nvCxnSpPr>
        <p:spPr>
          <a:xfrm>
            <a:off x="640811" y="3447214"/>
            <a:ext cx="7943400" cy="0"/>
          </a:xfrm>
          <a:prstGeom prst="straightConnector1">
            <a:avLst/>
          </a:prstGeom>
          <a:noFill/>
          <a:ln cap="flat" cmpd="sng" w="28575">
            <a:solidFill>
              <a:srgbClr val="AB969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5" name="Google Shape;175;p27"/>
          <p:cNvSpPr/>
          <p:nvPr/>
        </p:nvSpPr>
        <p:spPr>
          <a:xfrm>
            <a:off x="559849" y="3373396"/>
            <a:ext cx="158750" cy="15875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AB969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7"/>
          <p:cNvSpPr/>
          <p:nvPr/>
        </p:nvSpPr>
        <p:spPr>
          <a:xfrm>
            <a:off x="2559971" y="3373396"/>
            <a:ext cx="158750" cy="15875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AB969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7"/>
          <p:cNvSpPr/>
          <p:nvPr/>
        </p:nvSpPr>
        <p:spPr>
          <a:xfrm>
            <a:off x="4694362" y="3373396"/>
            <a:ext cx="158750" cy="15875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AB969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7"/>
          <p:cNvSpPr/>
          <p:nvPr/>
        </p:nvSpPr>
        <p:spPr>
          <a:xfrm>
            <a:off x="6830762" y="3373396"/>
            <a:ext cx="158750" cy="158750"/>
          </a:xfrm>
          <a:custGeom>
            <a:rect b="b" l="l" r="r" t="t"/>
            <a:pathLst>
              <a:path extrusionOk="0" h="6350000" w="6350000">
                <a:moveTo>
                  <a:pt x="3175000" y="0"/>
                </a:moveTo>
                <a:cubicBezTo>
                  <a:pt x="1421496" y="0"/>
                  <a:pt x="0" y="1421496"/>
                  <a:pt x="0" y="3175000"/>
                </a:cubicBezTo>
                <a:cubicBezTo>
                  <a:pt x="0" y="4928504"/>
                  <a:pt x="1421496" y="6350000"/>
                  <a:pt x="3175000" y="6350000"/>
                </a:cubicBezTo>
                <a:cubicBezTo>
                  <a:pt x="4928504" y="6350000"/>
                  <a:pt x="6350000" y="4928504"/>
                  <a:pt x="6350000" y="3175000"/>
                </a:cubicBezTo>
                <a:cubicBezTo>
                  <a:pt x="6350000" y="1421496"/>
                  <a:pt x="4928504" y="0"/>
                  <a:pt x="3175000" y="0"/>
                </a:cubicBezTo>
                <a:close/>
              </a:path>
            </a:pathLst>
          </a:custGeom>
          <a:solidFill>
            <a:srgbClr val="AB9696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9" name="Google Shape;179;p27"/>
          <p:cNvCxnSpPr/>
          <p:nvPr/>
        </p:nvCxnSpPr>
        <p:spPr>
          <a:xfrm rot="5400000">
            <a:off x="223211" y="3871958"/>
            <a:ext cx="835200" cy="0"/>
          </a:xfrm>
          <a:prstGeom prst="straightConnector1">
            <a:avLst/>
          </a:prstGeom>
          <a:noFill/>
          <a:ln cap="flat" cmpd="sng" w="28575">
            <a:solidFill>
              <a:srgbClr val="AB969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0" name="Google Shape;180;p27"/>
          <p:cNvCxnSpPr/>
          <p:nvPr/>
        </p:nvCxnSpPr>
        <p:spPr>
          <a:xfrm rot="5400000">
            <a:off x="2223334" y="3871958"/>
            <a:ext cx="835200" cy="0"/>
          </a:xfrm>
          <a:prstGeom prst="straightConnector1">
            <a:avLst/>
          </a:prstGeom>
          <a:noFill/>
          <a:ln cap="flat" cmpd="sng" w="28575">
            <a:solidFill>
              <a:srgbClr val="AB969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1" name="Google Shape;181;p27"/>
          <p:cNvCxnSpPr/>
          <p:nvPr/>
        </p:nvCxnSpPr>
        <p:spPr>
          <a:xfrm rot="5400000">
            <a:off x="4357724" y="3871958"/>
            <a:ext cx="835200" cy="0"/>
          </a:xfrm>
          <a:prstGeom prst="straightConnector1">
            <a:avLst/>
          </a:prstGeom>
          <a:noFill/>
          <a:ln cap="flat" cmpd="sng" w="28575">
            <a:solidFill>
              <a:srgbClr val="AB969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2" name="Google Shape;182;p27"/>
          <p:cNvCxnSpPr/>
          <p:nvPr/>
        </p:nvCxnSpPr>
        <p:spPr>
          <a:xfrm rot="5400000">
            <a:off x="6494124" y="3871958"/>
            <a:ext cx="835200" cy="0"/>
          </a:xfrm>
          <a:prstGeom prst="straightConnector1">
            <a:avLst/>
          </a:prstGeom>
          <a:noFill/>
          <a:ln cap="flat" cmpd="sng" w="28575">
            <a:solidFill>
              <a:srgbClr val="AB969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3" name="Google Shape;183;p27"/>
          <p:cNvSpPr txBox="1"/>
          <p:nvPr/>
        </p:nvSpPr>
        <p:spPr>
          <a:xfrm>
            <a:off x="721774" y="4020517"/>
            <a:ext cx="159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665653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주제</a:t>
            </a:r>
            <a:endParaRPr sz="700"/>
          </a:p>
        </p:txBody>
      </p:sp>
      <p:sp>
        <p:nvSpPr>
          <p:cNvPr id="184" name="Google Shape;184;p27"/>
          <p:cNvSpPr txBox="1"/>
          <p:nvPr/>
        </p:nvSpPr>
        <p:spPr>
          <a:xfrm>
            <a:off x="2721896" y="4020517"/>
            <a:ext cx="159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665653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구현 기능</a:t>
            </a:r>
            <a:endParaRPr sz="700"/>
          </a:p>
        </p:txBody>
      </p:sp>
      <p:sp>
        <p:nvSpPr>
          <p:cNvPr id="185" name="Google Shape;185;p27"/>
          <p:cNvSpPr txBox="1"/>
          <p:nvPr/>
        </p:nvSpPr>
        <p:spPr>
          <a:xfrm>
            <a:off x="2721896" y="4455683"/>
            <a:ext cx="15915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186" name="Google Shape;186;p27"/>
          <p:cNvSpPr txBox="1"/>
          <p:nvPr/>
        </p:nvSpPr>
        <p:spPr>
          <a:xfrm>
            <a:off x="4856287" y="4020517"/>
            <a:ext cx="159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665653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팀원 역할</a:t>
            </a:r>
            <a:endParaRPr b="1" sz="1800">
              <a:solidFill>
                <a:srgbClr val="665653"/>
              </a:solidFill>
              <a:latin typeface="Nanum Myeongjo"/>
              <a:ea typeface="Nanum Myeongjo"/>
              <a:cs typeface="Nanum Myeongjo"/>
              <a:sym typeface="Nanum Myeongjo"/>
            </a:endParaRPr>
          </a:p>
        </p:txBody>
      </p:sp>
      <p:sp>
        <p:nvSpPr>
          <p:cNvPr id="187" name="Google Shape;187;p27"/>
          <p:cNvSpPr txBox="1"/>
          <p:nvPr/>
        </p:nvSpPr>
        <p:spPr>
          <a:xfrm>
            <a:off x="4856287" y="4455683"/>
            <a:ext cx="15915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sp>
        <p:nvSpPr>
          <p:cNvPr id="188" name="Google Shape;188;p27"/>
          <p:cNvSpPr txBox="1"/>
          <p:nvPr/>
        </p:nvSpPr>
        <p:spPr>
          <a:xfrm>
            <a:off x="6992687" y="4020517"/>
            <a:ext cx="159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800">
                <a:solidFill>
                  <a:srgbClr val="665653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계획</a:t>
            </a:r>
            <a:endParaRPr sz="700"/>
          </a:p>
        </p:txBody>
      </p:sp>
      <p:sp>
        <p:nvSpPr>
          <p:cNvPr id="189" name="Google Shape;189;p27"/>
          <p:cNvSpPr txBox="1"/>
          <p:nvPr/>
        </p:nvSpPr>
        <p:spPr>
          <a:xfrm>
            <a:off x="6992687" y="4455683"/>
            <a:ext cx="15915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grpSp>
        <p:nvGrpSpPr>
          <p:cNvPr id="190" name="Google Shape;190;p27"/>
          <p:cNvGrpSpPr/>
          <p:nvPr/>
        </p:nvGrpSpPr>
        <p:grpSpPr>
          <a:xfrm>
            <a:off x="-90487" y="4873383"/>
            <a:ext cx="9324975" cy="449821"/>
            <a:chOff x="0" y="-47625"/>
            <a:chExt cx="4911921" cy="236943"/>
          </a:xfrm>
        </p:grpSpPr>
        <p:sp>
          <p:nvSpPr>
            <p:cNvPr id="191" name="Google Shape;191;p27"/>
            <p:cNvSpPr/>
            <p:nvPr/>
          </p:nvSpPr>
          <p:spPr>
            <a:xfrm>
              <a:off x="0" y="0"/>
              <a:ext cx="4911921" cy="189318"/>
            </a:xfrm>
            <a:custGeom>
              <a:rect b="b" l="l" r="r" t="t"/>
              <a:pathLst>
                <a:path extrusionOk="0" h="189318" w="4911921">
                  <a:moveTo>
                    <a:pt x="0" y="0"/>
                  </a:moveTo>
                  <a:lnTo>
                    <a:pt x="4911921" y="0"/>
                  </a:lnTo>
                  <a:lnTo>
                    <a:pt x="4911921" y="189318"/>
                  </a:lnTo>
                  <a:lnTo>
                    <a:pt x="0" y="189318"/>
                  </a:lnTo>
                  <a:close/>
                </a:path>
              </a:pathLst>
            </a:custGeom>
            <a:solidFill>
              <a:srgbClr val="D1CAC9"/>
            </a:solidFill>
            <a:ln>
              <a:noFill/>
            </a:ln>
          </p:spPr>
        </p:sp>
        <p:sp>
          <p:nvSpPr>
            <p:cNvPr id="192" name="Google Shape;192;p27"/>
            <p:cNvSpPr txBox="1"/>
            <p:nvPr/>
          </p:nvSpPr>
          <p:spPr>
            <a:xfrm>
              <a:off x="0" y="-47625"/>
              <a:ext cx="4911921" cy="2369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3" name="Google Shape;193;p27"/>
          <p:cNvSpPr txBox="1"/>
          <p:nvPr/>
        </p:nvSpPr>
        <p:spPr>
          <a:xfrm>
            <a:off x="333833" y="266700"/>
            <a:ext cx="3960870" cy="6318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4300" u="none" cap="none" strike="noStrike">
                <a:solidFill>
                  <a:srgbClr val="704F48"/>
                </a:solidFill>
                <a:latin typeface="Arial"/>
                <a:ea typeface="Arial"/>
                <a:cs typeface="Arial"/>
                <a:sym typeface="Arial"/>
              </a:rPr>
              <a:t>CONTENTS</a:t>
            </a:r>
            <a:endParaRPr sz="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0EB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28"/>
          <p:cNvPicPr preferRelativeResize="0"/>
          <p:nvPr/>
        </p:nvPicPr>
        <p:blipFill rotWithShape="1">
          <a:blip r:embed="rId3">
            <a:alphaModFix/>
          </a:blip>
          <a:srcRect b="0" l="24193" r="24193" t="0"/>
          <a:stretch/>
        </p:blipFill>
        <p:spPr>
          <a:xfrm>
            <a:off x="4418270" y="-33337"/>
            <a:ext cx="4907804" cy="6339172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8"/>
          <p:cNvSpPr txBox="1"/>
          <p:nvPr/>
        </p:nvSpPr>
        <p:spPr>
          <a:xfrm>
            <a:off x="357646" y="3746700"/>
            <a:ext cx="25899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71450" lvl="1" marL="330200" marR="0" rtl="0" algn="l">
              <a:lnSpc>
                <a:spcPct val="200033"/>
              </a:lnSpc>
              <a:spcBef>
                <a:spcPts val="0"/>
              </a:spcBef>
              <a:spcAft>
                <a:spcPts val="0"/>
              </a:spcAft>
              <a:buClr>
                <a:srgbClr val="665653"/>
              </a:buClr>
              <a:buSzPts val="1500"/>
              <a:buFont typeface="Arial"/>
              <a:buChar char="•"/>
            </a:pPr>
            <a:r>
              <a:rPr lang="ko" sz="1500">
                <a:solidFill>
                  <a:srgbClr val="665653"/>
                </a:solidFill>
              </a:rPr>
              <a:t>배경</a:t>
            </a:r>
            <a:endParaRPr sz="1500">
              <a:solidFill>
                <a:srgbClr val="665653"/>
              </a:solidFill>
            </a:endParaRPr>
          </a:p>
          <a:p>
            <a:pPr indent="-171450" lvl="1" marL="330200" marR="0" rtl="0" algn="l">
              <a:lnSpc>
                <a:spcPct val="200033"/>
              </a:lnSpc>
              <a:spcBef>
                <a:spcPts val="0"/>
              </a:spcBef>
              <a:spcAft>
                <a:spcPts val="0"/>
              </a:spcAft>
              <a:buClr>
                <a:srgbClr val="665653"/>
              </a:buClr>
              <a:buSzPts val="1500"/>
              <a:buChar char="•"/>
            </a:pPr>
            <a:r>
              <a:rPr lang="ko" sz="1500">
                <a:solidFill>
                  <a:srgbClr val="665653"/>
                </a:solidFill>
              </a:rPr>
              <a:t>목표</a:t>
            </a:r>
            <a:endParaRPr sz="1500">
              <a:solidFill>
                <a:srgbClr val="665653"/>
              </a:solidFill>
            </a:endParaRPr>
          </a:p>
        </p:txBody>
      </p:sp>
      <p:cxnSp>
        <p:nvCxnSpPr>
          <p:cNvPr id="200" name="Google Shape;200;p28"/>
          <p:cNvCxnSpPr/>
          <p:nvPr/>
        </p:nvCxnSpPr>
        <p:spPr>
          <a:xfrm>
            <a:off x="357646" y="3706219"/>
            <a:ext cx="1929600" cy="0"/>
          </a:xfrm>
          <a:prstGeom prst="straightConnector1">
            <a:avLst/>
          </a:prstGeom>
          <a:noFill/>
          <a:ln cap="flat" cmpd="sng" w="28575">
            <a:solidFill>
              <a:srgbClr val="AB9696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01" name="Google Shape;201;p28"/>
          <p:cNvGrpSpPr/>
          <p:nvPr/>
        </p:nvGrpSpPr>
        <p:grpSpPr>
          <a:xfrm>
            <a:off x="-90487" y="4873383"/>
            <a:ext cx="9324975" cy="449821"/>
            <a:chOff x="0" y="-47625"/>
            <a:chExt cx="4911921" cy="236943"/>
          </a:xfrm>
        </p:grpSpPr>
        <p:sp>
          <p:nvSpPr>
            <p:cNvPr id="202" name="Google Shape;202;p28"/>
            <p:cNvSpPr/>
            <p:nvPr/>
          </p:nvSpPr>
          <p:spPr>
            <a:xfrm>
              <a:off x="0" y="0"/>
              <a:ext cx="4911921" cy="189318"/>
            </a:xfrm>
            <a:custGeom>
              <a:rect b="b" l="l" r="r" t="t"/>
              <a:pathLst>
                <a:path extrusionOk="0" h="189318" w="4911921">
                  <a:moveTo>
                    <a:pt x="0" y="0"/>
                  </a:moveTo>
                  <a:lnTo>
                    <a:pt x="4911921" y="0"/>
                  </a:lnTo>
                  <a:lnTo>
                    <a:pt x="4911921" y="189318"/>
                  </a:lnTo>
                  <a:lnTo>
                    <a:pt x="0" y="189318"/>
                  </a:lnTo>
                  <a:close/>
                </a:path>
              </a:pathLst>
            </a:custGeom>
            <a:solidFill>
              <a:srgbClr val="D1CAC9"/>
            </a:solidFill>
            <a:ln>
              <a:noFill/>
            </a:ln>
          </p:spPr>
        </p:sp>
        <p:sp>
          <p:nvSpPr>
            <p:cNvPr id="203" name="Google Shape;203;p28"/>
            <p:cNvSpPr txBox="1"/>
            <p:nvPr/>
          </p:nvSpPr>
          <p:spPr>
            <a:xfrm>
              <a:off x="0" y="-47625"/>
              <a:ext cx="4911921" cy="2369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4" name="Google Shape;204;p28"/>
          <p:cNvSpPr txBox="1"/>
          <p:nvPr/>
        </p:nvSpPr>
        <p:spPr>
          <a:xfrm>
            <a:off x="333833" y="266700"/>
            <a:ext cx="3960900" cy="5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4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4200">
                <a:solidFill>
                  <a:srgbClr val="704F48"/>
                </a:solidFill>
              </a:rPr>
              <a:t>주제</a:t>
            </a:r>
            <a:endParaRPr sz="700"/>
          </a:p>
        </p:txBody>
      </p:sp>
      <p:sp>
        <p:nvSpPr>
          <p:cNvPr id="205" name="Google Shape;205;p28"/>
          <p:cNvSpPr txBox="1"/>
          <p:nvPr/>
        </p:nvSpPr>
        <p:spPr>
          <a:xfrm>
            <a:off x="357652" y="966675"/>
            <a:ext cx="39609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rgbClr val="665653"/>
                </a:solidFill>
              </a:rPr>
              <a:t>실시간 멀티플레이 환경에서의 무작위 맵 생성 기반 전략 TPS게임 개발</a:t>
            </a:r>
            <a:endParaRPr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0EB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9"/>
          <p:cNvSpPr txBox="1"/>
          <p:nvPr/>
        </p:nvSpPr>
        <p:spPr>
          <a:xfrm>
            <a:off x="357646" y="327346"/>
            <a:ext cx="3960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600">
                <a:solidFill>
                  <a:srgbClr val="704F48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배경</a:t>
            </a:r>
            <a:endParaRPr sz="700"/>
          </a:p>
        </p:txBody>
      </p:sp>
      <p:cxnSp>
        <p:nvCxnSpPr>
          <p:cNvPr id="211" name="Google Shape;211;p29"/>
          <p:cNvCxnSpPr/>
          <p:nvPr/>
        </p:nvCxnSpPr>
        <p:spPr>
          <a:xfrm rot="5400000">
            <a:off x="-686360" y="2736740"/>
            <a:ext cx="2088000" cy="0"/>
          </a:xfrm>
          <a:prstGeom prst="straightConnector1">
            <a:avLst/>
          </a:prstGeom>
          <a:noFill/>
          <a:ln cap="flat" cmpd="sng" w="28575">
            <a:solidFill>
              <a:srgbClr val="AB9696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12" name="Google Shape;21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6474" y="1826725"/>
            <a:ext cx="3380150" cy="1903001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9"/>
          <p:cNvSpPr txBox="1"/>
          <p:nvPr/>
        </p:nvSpPr>
        <p:spPr>
          <a:xfrm>
            <a:off x="3340173" y="1372730"/>
            <a:ext cx="2196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665653"/>
                </a:solidFill>
              </a:rPr>
              <a:t>고정된 맵 구조</a:t>
            </a:r>
            <a:endParaRPr b="1" sz="700"/>
          </a:p>
        </p:txBody>
      </p:sp>
      <p:sp>
        <p:nvSpPr>
          <p:cNvPr id="214" name="Google Shape;214;p29"/>
          <p:cNvSpPr txBox="1"/>
          <p:nvPr/>
        </p:nvSpPr>
        <p:spPr>
          <a:xfrm>
            <a:off x="633151" y="3902300"/>
            <a:ext cx="294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665653"/>
                </a:solidFill>
              </a:rPr>
              <a:t>크래프톤</a:t>
            </a:r>
            <a:r>
              <a:rPr b="1" lang="ko" sz="1000">
                <a:solidFill>
                  <a:srgbClr val="665653"/>
                </a:solidFill>
              </a:rPr>
              <a:t> &lt;블라인드 스팟&gt;</a:t>
            </a:r>
            <a:endParaRPr b="1" sz="1000">
              <a:solidFill>
                <a:srgbClr val="665653"/>
              </a:solidFill>
            </a:endParaRPr>
          </a:p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665653"/>
                </a:solidFill>
              </a:rPr>
              <a:t> 인게임 맵 구조</a:t>
            </a:r>
            <a:endParaRPr sz="500"/>
          </a:p>
        </p:txBody>
      </p:sp>
      <p:sp>
        <p:nvSpPr>
          <p:cNvPr id="215" name="Google Shape;215;p29"/>
          <p:cNvSpPr txBox="1"/>
          <p:nvPr/>
        </p:nvSpPr>
        <p:spPr>
          <a:xfrm>
            <a:off x="5136126" y="3902300"/>
            <a:ext cx="294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665653"/>
                </a:solidFill>
              </a:rPr>
              <a:t>유비소프트 </a:t>
            </a:r>
            <a:r>
              <a:rPr b="1" lang="ko" sz="1000">
                <a:solidFill>
                  <a:srgbClr val="665653"/>
                </a:solidFill>
              </a:rPr>
              <a:t>&lt;레인보우식스 시즈&gt;</a:t>
            </a:r>
            <a:endParaRPr b="1" sz="1000">
              <a:solidFill>
                <a:srgbClr val="665653"/>
              </a:solidFill>
            </a:endParaRPr>
          </a:p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665653"/>
                </a:solidFill>
              </a:rPr>
              <a:t> 인게임 맵 구조</a:t>
            </a:r>
            <a:endParaRPr sz="500"/>
          </a:p>
        </p:txBody>
      </p:sp>
      <p:pic>
        <p:nvPicPr>
          <p:cNvPr id="216" name="Google Shape;216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" y="1826725"/>
            <a:ext cx="3380150" cy="192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0EB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0"/>
          <p:cNvSpPr txBox="1"/>
          <p:nvPr/>
        </p:nvSpPr>
        <p:spPr>
          <a:xfrm>
            <a:off x="357646" y="327346"/>
            <a:ext cx="3960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600">
                <a:solidFill>
                  <a:srgbClr val="704F48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배경</a:t>
            </a:r>
            <a:endParaRPr sz="700"/>
          </a:p>
        </p:txBody>
      </p:sp>
      <p:cxnSp>
        <p:nvCxnSpPr>
          <p:cNvPr id="222" name="Google Shape;222;p30"/>
          <p:cNvCxnSpPr/>
          <p:nvPr/>
        </p:nvCxnSpPr>
        <p:spPr>
          <a:xfrm rot="5400000">
            <a:off x="-686360" y="2376265"/>
            <a:ext cx="2088000" cy="0"/>
          </a:xfrm>
          <a:prstGeom prst="straightConnector1">
            <a:avLst/>
          </a:prstGeom>
          <a:noFill/>
          <a:ln cap="flat" cmpd="sng" w="28575">
            <a:solidFill>
              <a:srgbClr val="AB969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3" name="Google Shape;223;p30"/>
          <p:cNvSpPr txBox="1"/>
          <p:nvPr/>
        </p:nvSpPr>
        <p:spPr>
          <a:xfrm>
            <a:off x="3301773" y="512005"/>
            <a:ext cx="2196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200">
                <a:solidFill>
                  <a:srgbClr val="665653"/>
                </a:solidFill>
              </a:rPr>
              <a:t>신규 맵에 따른 유저 수 증가</a:t>
            </a:r>
            <a:endParaRPr b="1" sz="700"/>
          </a:p>
        </p:txBody>
      </p:sp>
      <p:sp>
        <p:nvSpPr>
          <p:cNvPr id="224" name="Google Shape;224;p30"/>
          <p:cNvSpPr txBox="1"/>
          <p:nvPr/>
        </p:nvSpPr>
        <p:spPr>
          <a:xfrm>
            <a:off x="2929026" y="3871100"/>
            <a:ext cx="2942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ko" sz="1000">
                <a:solidFill>
                  <a:srgbClr val="665653"/>
                </a:solidFill>
              </a:rPr>
              <a:t>DealSite 기사 중</a:t>
            </a:r>
            <a:endParaRPr sz="1000">
              <a:solidFill>
                <a:srgbClr val="665653"/>
              </a:solidFill>
            </a:endParaRPr>
          </a:p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665653"/>
                </a:solidFill>
              </a:rPr>
              <a:t>크래프톤</a:t>
            </a:r>
            <a:r>
              <a:rPr b="1" lang="ko" sz="1000">
                <a:solidFill>
                  <a:srgbClr val="665653"/>
                </a:solidFill>
              </a:rPr>
              <a:t>&lt;PUBG:</a:t>
            </a:r>
            <a:r>
              <a:rPr b="1" lang="ko" sz="1000">
                <a:solidFill>
                  <a:srgbClr val="665653"/>
                </a:solidFill>
              </a:rPr>
              <a:t>배틀그라운드</a:t>
            </a:r>
            <a:r>
              <a:rPr b="1" lang="ko" sz="1000">
                <a:solidFill>
                  <a:srgbClr val="665653"/>
                </a:solidFill>
              </a:rPr>
              <a:t>&gt;</a:t>
            </a:r>
            <a:endParaRPr b="1" sz="1000">
              <a:solidFill>
                <a:srgbClr val="665653"/>
              </a:solidFill>
            </a:endParaRPr>
          </a:p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665653"/>
                </a:solidFill>
              </a:rPr>
              <a:t> </a:t>
            </a:r>
            <a:r>
              <a:rPr lang="ko" sz="1000">
                <a:solidFill>
                  <a:srgbClr val="665653"/>
                </a:solidFill>
              </a:rPr>
              <a:t>신규 맵 ‘론도’ 출시 후 동시 접속자 수 62만명 돌파</a:t>
            </a:r>
            <a:endParaRPr sz="500"/>
          </a:p>
        </p:txBody>
      </p:sp>
      <p:pic>
        <p:nvPicPr>
          <p:cNvPr id="225" name="Google Shape;22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4575" y="1124325"/>
            <a:ext cx="4448101" cy="250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0EB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1"/>
          <p:cNvSpPr txBox="1"/>
          <p:nvPr/>
        </p:nvSpPr>
        <p:spPr>
          <a:xfrm>
            <a:off x="326571" y="306621"/>
            <a:ext cx="3960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600">
                <a:solidFill>
                  <a:srgbClr val="704F48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목표</a:t>
            </a:r>
            <a:endParaRPr sz="700"/>
          </a:p>
        </p:txBody>
      </p:sp>
      <p:cxnSp>
        <p:nvCxnSpPr>
          <p:cNvPr id="231" name="Google Shape;231;p31"/>
          <p:cNvCxnSpPr/>
          <p:nvPr/>
        </p:nvCxnSpPr>
        <p:spPr>
          <a:xfrm rot="5400000">
            <a:off x="-686360" y="2736740"/>
            <a:ext cx="2088000" cy="0"/>
          </a:xfrm>
          <a:prstGeom prst="straightConnector1">
            <a:avLst/>
          </a:prstGeom>
          <a:noFill/>
          <a:ln cap="flat" cmpd="sng" w="28575">
            <a:solidFill>
              <a:srgbClr val="AB9696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32" name="Google Shape;23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5675" y="1544325"/>
            <a:ext cx="2384849" cy="238485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31"/>
          <p:cNvSpPr/>
          <p:nvPr/>
        </p:nvSpPr>
        <p:spPr>
          <a:xfrm>
            <a:off x="3792275" y="2564250"/>
            <a:ext cx="345000" cy="345000"/>
          </a:xfrm>
          <a:prstGeom prst="homePlate">
            <a:avLst>
              <a:gd fmla="val 50000" name="adj"/>
            </a:avLst>
          </a:prstGeom>
          <a:solidFill>
            <a:srgbClr val="CCCCCC"/>
          </a:solidFill>
          <a:ln cap="flat" cmpd="sng" w="9525">
            <a:solidFill>
              <a:srgbClr val="F1F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31"/>
          <p:cNvSpPr/>
          <p:nvPr/>
        </p:nvSpPr>
        <p:spPr>
          <a:xfrm>
            <a:off x="4150800" y="2564250"/>
            <a:ext cx="345000" cy="345000"/>
          </a:xfrm>
          <a:prstGeom prst="homePlate">
            <a:avLst>
              <a:gd fmla="val 50000" name="adj"/>
            </a:avLst>
          </a:prstGeom>
          <a:solidFill>
            <a:srgbClr val="CCCCCC"/>
          </a:solidFill>
          <a:ln cap="flat" cmpd="sng" w="9525">
            <a:solidFill>
              <a:srgbClr val="F1F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31"/>
          <p:cNvSpPr/>
          <p:nvPr/>
        </p:nvSpPr>
        <p:spPr>
          <a:xfrm>
            <a:off x="4509338" y="2564250"/>
            <a:ext cx="345000" cy="345000"/>
          </a:xfrm>
          <a:prstGeom prst="homePlate">
            <a:avLst>
              <a:gd fmla="val 50000" name="adj"/>
            </a:avLst>
          </a:prstGeom>
          <a:solidFill>
            <a:srgbClr val="CCCCCC"/>
          </a:solidFill>
          <a:ln cap="flat" cmpd="sng" w="9525">
            <a:solidFill>
              <a:srgbClr val="F1F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6" name="Google Shape;236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89997" y="1448775"/>
            <a:ext cx="2722125" cy="2722125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31"/>
          <p:cNvSpPr txBox="1"/>
          <p:nvPr/>
        </p:nvSpPr>
        <p:spPr>
          <a:xfrm rot="-2399961">
            <a:off x="1209310" y="1964072"/>
            <a:ext cx="1362832" cy="154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665653"/>
                </a:solidFill>
              </a:rPr>
              <a:t>무작위 맵 생성</a:t>
            </a:r>
            <a:endParaRPr sz="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0EB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2" name="Google Shape;242;p32"/>
          <p:cNvGrpSpPr/>
          <p:nvPr/>
        </p:nvGrpSpPr>
        <p:grpSpPr>
          <a:xfrm>
            <a:off x="-90487" y="4873385"/>
            <a:ext cx="9324791" cy="449921"/>
            <a:chOff x="0" y="-47625"/>
            <a:chExt cx="4911921" cy="237000"/>
          </a:xfrm>
        </p:grpSpPr>
        <p:sp>
          <p:nvSpPr>
            <p:cNvPr id="243" name="Google Shape;243;p32"/>
            <p:cNvSpPr/>
            <p:nvPr/>
          </p:nvSpPr>
          <p:spPr>
            <a:xfrm>
              <a:off x="0" y="0"/>
              <a:ext cx="4911921" cy="189318"/>
            </a:xfrm>
            <a:custGeom>
              <a:rect b="b" l="l" r="r" t="t"/>
              <a:pathLst>
                <a:path extrusionOk="0" h="189318" w="4911921">
                  <a:moveTo>
                    <a:pt x="0" y="0"/>
                  </a:moveTo>
                  <a:lnTo>
                    <a:pt x="4911921" y="0"/>
                  </a:lnTo>
                  <a:lnTo>
                    <a:pt x="4911921" y="189318"/>
                  </a:lnTo>
                  <a:lnTo>
                    <a:pt x="0" y="189318"/>
                  </a:lnTo>
                  <a:close/>
                </a:path>
              </a:pathLst>
            </a:custGeom>
            <a:solidFill>
              <a:srgbClr val="D1CAC9"/>
            </a:solidFill>
            <a:ln>
              <a:noFill/>
            </a:ln>
          </p:spPr>
        </p:sp>
        <p:sp>
          <p:nvSpPr>
            <p:cNvPr id="244" name="Google Shape;244;p32"/>
            <p:cNvSpPr txBox="1"/>
            <p:nvPr/>
          </p:nvSpPr>
          <p:spPr>
            <a:xfrm>
              <a:off x="0" y="-47625"/>
              <a:ext cx="49119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5" name="Google Shape;245;p32"/>
          <p:cNvSpPr txBox="1"/>
          <p:nvPr/>
        </p:nvSpPr>
        <p:spPr>
          <a:xfrm>
            <a:off x="357645" y="327346"/>
            <a:ext cx="6103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600">
                <a:solidFill>
                  <a:srgbClr val="704F48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목표</a:t>
            </a:r>
            <a:endParaRPr sz="700"/>
          </a:p>
        </p:txBody>
      </p:sp>
      <p:cxnSp>
        <p:nvCxnSpPr>
          <p:cNvPr id="246" name="Google Shape;246;p32"/>
          <p:cNvCxnSpPr/>
          <p:nvPr/>
        </p:nvCxnSpPr>
        <p:spPr>
          <a:xfrm>
            <a:off x="3237050" y="4060242"/>
            <a:ext cx="2729400" cy="0"/>
          </a:xfrm>
          <a:prstGeom prst="straightConnector1">
            <a:avLst/>
          </a:prstGeom>
          <a:noFill/>
          <a:ln cap="flat" cmpd="sng" w="19050">
            <a:solidFill>
              <a:srgbClr val="AB969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7" name="Google Shape;247;p32"/>
          <p:cNvSpPr txBox="1"/>
          <p:nvPr/>
        </p:nvSpPr>
        <p:spPr>
          <a:xfrm>
            <a:off x="3063680" y="3619472"/>
            <a:ext cx="3076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600">
                <a:solidFill>
                  <a:srgbClr val="665653"/>
                </a:solidFill>
              </a:rPr>
              <a:t>전략 TPS 게임 구현 </a:t>
            </a:r>
            <a:endParaRPr sz="700"/>
          </a:p>
        </p:txBody>
      </p:sp>
      <p:sp>
        <p:nvSpPr>
          <p:cNvPr id="248" name="Google Shape;248;p32"/>
          <p:cNvSpPr txBox="1"/>
          <p:nvPr/>
        </p:nvSpPr>
        <p:spPr>
          <a:xfrm>
            <a:off x="3063680" y="4254723"/>
            <a:ext cx="3076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665653"/>
                </a:solidFill>
              </a:rPr>
              <a:t>4 vs 4 기반의 </a:t>
            </a:r>
            <a:r>
              <a:rPr lang="ko" sz="1200">
                <a:solidFill>
                  <a:srgbClr val="665653"/>
                </a:solidFill>
              </a:rPr>
              <a:t>팀 폭파 미션 게임</a:t>
            </a:r>
            <a:endParaRPr sz="700"/>
          </a:p>
        </p:txBody>
      </p:sp>
      <p:pic>
        <p:nvPicPr>
          <p:cNvPr id="249" name="Google Shape;24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2488" y="742596"/>
            <a:ext cx="2758881" cy="27588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0EB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2079" y="1891802"/>
            <a:ext cx="2331249" cy="1359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71557" y="1913634"/>
            <a:ext cx="2319374" cy="131623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6" name="Google Shape;256;p33"/>
          <p:cNvGrpSpPr/>
          <p:nvPr/>
        </p:nvGrpSpPr>
        <p:grpSpPr>
          <a:xfrm>
            <a:off x="-90487" y="4873383"/>
            <a:ext cx="9324975" cy="449821"/>
            <a:chOff x="0" y="-47625"/>
            <a:chExt cx="4911921" cy="236943"/>
          </a:xfrm>
        </p:grpSpPr>
        <p:sp>
          <p:nvSpPr>
            <p:cNvPr id="257" name="Google Shape;257;p33"/>
            <p:cNvSpPr/>
            <p:nvPr/>
          </p:nvSpPr>
          <p:spPr>
            <a:xfrm>
              <a:off x="0" y="0"/>
              <a:ext cx="4911921" cy="189318"/>
            </a:xfrm>
            <a:custGeom>
              <a:rect b="b" l="l" r="r" t="t"/>
              <a:pathLst>
                <a:path extrusionOk="0" h="189318" w="4911921">
                  <a:moveTo>
                    <a:pt x="0" y="0"/>
                  </a:moveTo>
                  <a:lnTo>
                    <a:pt x="4911921" y="0"/>
                  </a:lnTo>
                  <a:lnTo>
                    <a:pt x="4911921" y="189318"/>
                  </a:lnTo>
                  <a:lnTo>
                    <a:pt x="0" y="189318"/>
                  </a:lnTo>
                  <a:close/>
                </a:path>
              </a:pathLst>
            </a:custGeom>
            <a:solidFill>
              <a:srgbClr val="D1CAC9"/>
            </a:solidFill>
            <a:ln>
              <a:noFill/>
            </a:ln>
          </p:spPr>
        </p:sp>
        <p:sp>
          <p:nvSpPr>
            <p:cNvPr id="258" name="Google Shape;258;p33"/>
            <p:cNvSpPr txBox="1"/>
            <p:nvPr/>
          </p:nvSpPr>
          <p:spPr>
            <a:xfrm>
              <a:off x="0" y="-47625"/>
              <a:ext cx="4911921" cy="2369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9" name="Google Shape;259;p33"/>
          <p:cNvSpPr txBox="1"/>
          <p:nvPr/>
        </p:nvSpPr>
        <p:spPr>
          <a:xfrm>
            <a:off x="357645" y="327346"/>
            <a:ext cx="6103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600">
                <a:solidFill>
                  <a:srgbClr val="704F48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구현 기능</a:t>
            </a:r>
            <a:endParaRPr sz="700"/>
          </a:p>
        </p:txBody>
      </p:sp>
      <p:cxnSp>
        <p:nvCxnSpPr>
          <p:cNvPr id="260" name="Google Shape;260;p33"/>
          <p:cNvCxnSpPr/>
          <p:nvPr/>
        </p:nvCxnSpPr>
        <p:spPr>
          <a:xfrm>
            <a:off x="643103" y="3888718"/>
            <a:ext cx="1949201" cy="0"/>
          </a:xfrm>
          <a:prstGeom prst="straightConnector1">
            <a:avLst/>
          </a:prstGeom>
          <a:noFill/>
          <a:ln cap="flat" cmpd="sng" w="19050">
            <a:solidFill>
              <a:srgbClr val="AB969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1" name="Google Shape;261;p33"/>
          <p:cNvCxnSpPr/>
          <p:nvPr/>
        </p:nvCxnSpPr>
        <p:spPr>
          <a:xfrm>
            <a:off x="3597399" y="3888718"/>
            <a:ext cx="1949201" cy="0"/>
          </a:xfrm>
          <a:prstGeom prst="straightConnector1">
            <a:avLst/>
          </a:prstGeom>
          <a:noFill/>
          <a:ln cap="flat" cmpd="sng" w="19050">
            <a:solidFill>
              <a:srgbClr val="AB969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2" name="Google Shape;262;p33"/>
          <p:cNvCxnSpPr/>
          <p:nvPr/>
        </p:nvCxnSpPr>
        <p:spPr>
          <a:xfrm>
            <a:off x="6556644" y="3888718"/>
            <a:ext cx="1949201" cy="0"/>
          </a:xfrm>
          <a:prstGeom prst="straightConnector1">
            <a:avLst/>
          </a:prstGeom>
          <a:noFill/>
          <a:ln cap="flat" cmpd="sng" w="19050">
            <a:solidFill>
              <a:srgbClr val="AB969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3" name="Google Shape;263;p33"/>
          <p:cNvSpPr txBox="1"/>
          <p:nvPr/>
        </p:nvSpPr>
        <p:spPr>
          <a:xfrm>
            <a:off x="519298" y="3507880"/>
            <a:ext cx="21969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600">
                <a:solidFill>
                  <a:srgbClr val="665653"/>
                </a:solidFill>
              </a:rPr>
              <a:t>맵 생성 기법</a:t>
            </a:r>
            <a:endParaRPr sz="700"/>
          </a:p>
        </p:txBody>
      </p:sp>
      <p:sp>
        <p:nvSpPr>
          <p:cNvPr id="264" name="Google Shape;264;p33"/>
          <p:cNvSpPr txBox="1"/>
          <p:nvPr/>
        </p:nvSpPr>
        <p:spPr>
          <a:xfrm>
            <a:off x="3473594" y="3507880"/>
            <a:ext cx="21969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600">
                <a:solidFill>
                  <a:srgbClr val="665653"/>
                </a:solidFill>
              </a:rPr>
              <a:t>장애물 생성 기법</a:t>
            </a:r>
            <a:endParaRPr sz="700"/>
          </a:p>
        </p:txBody>
      </p:sp>
      <p:sp>
        <p:nvSpPr>
          <p:cNvPr id="265" name="Google Shape;265;p33"/>
          <p:cNvSpPr txBox="1"/>
          <p:nvPr/>
        </p:nvSpPr>
        <p:spPr>
          <a:xfrm>
            <a:off x="6432838" y="3507880"/>
            <a:ext cx="21969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600">
                <a:solidFill>
                  <a:srgbClr val="665653"/>
                </a:solidFill>
              </a:rPr>
              <a:t>멀티플레이 환경 구축</a:t>
            </a:r>
            <a:endParaRPr sz="700"/>
          </a:p>
        </p:txBody>
      </p:sp>
      <p:sp>
        <p:nvSpPr>
          <p:cNvPr id="266" name="Google Shape;266;p33"/>
          <p:cNvSpPr txBox="1"/>
          <p:nvPr/>
        </p:nvSpPr>
        <p:spPr>
          <a:xfrm>
            <a:off x="519298" y="4017305"/>
            <a:ext cx="21969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665653"/>
                </a:solidFill>
              </a:rPr>
              <a:t>게임 시작 시, 정해진 규칙</a:t>
            </a:r>
            <a:endParaRPr sz="1200">
              <a:solidFill>
                <a:srgbClr val="665653"/>
              </a:solidFill>
            </a:endParaRPr>
          </a:p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665653"/>
                </a:solidFill>
              </a:rPr>
              <a:t>내에서 생성되는 방으로 구성된 무작위 맵</a:t>
            </a:r>
            <a:endParaRPr sz="1200">
              <a:solidFill>
                <a:srgbClr val="665653"/>
              </a:solidFill>
            </a:endParaRPr>
          </a:p>
        </p:txBody>
      </p:sp>
      <p:sp>
        <p:nvSpPr>
          <p:cNvPr id="267" name="Google Shape;267;p33"/>
          <p:cNvSpPr txBox="1"/>
          <p:nvPr/>
        </p:nvSpPr>
        <p:spPr>
          <a:xfrm>
            <a:off x="3473594" y="4017305"/>
            <a:ext cx="21969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665653"/>
                </a:solidFill>
              </a:rPr>
              <a:t>무작위로 생성된 방의 그리드에</a:t>
            </a:r>
            <a:endParaRPr sz="1200">
              <a:solidFill>
                <a:srgbClr val="665653"/>
              </a:solidFill>
            </a:endParaRPr>
          </a:p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665653"/>
                </a:solidFill>
              </a:rPr>
              <a:t>따라 적절한 장애물 배치</a:t>
            </a:r>
            <a:endParaRPr sz="1200">
              <a:solidFill>
                <a:srgbClr val="665653"/>
              </a:solidFill>
            </a:endParaRPr>
          </a:p>
        </p:txBody>
      </p:sp>
      <p:sp>
        <p:nvSpPr>
          <p:cNvPr id="268" name="Google Shape;268;p33"/>
          <p:cNvSpPr txBox="1"/>
          <p:nvPr/>
        </p:nvSpPr>
        <p:spPr>
          <a:xfrm>
            <a:off x="6432838" y="4017305"/>
            <a:ext cx="2196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665653"/>
                </a:solidFill>
              </a:rPr>
              <a:t>포톤2를 이용한 멀티 환경 구축</a:t>
            </a:r>
            <a:endParaRPr sz="700"/>
          </a:p>
        </p:txBody>
      </p:sp>
      <p:pic>
        <p:nvPicPr>
          <p:cNvPr id="269" name="Google Shape;269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73661" y="2062453"/>
            <a:ext cx="1207550" cy="112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0EB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4"/>
          <p:cNvSpPr/>
          <p:nvPr/>
        </p:nvSpPr>
        <p:spPr>
          <a:xfrm>
            <a:off x="775072" y="1685429"/>
            <a:ext cx="1677451" cy="1677444"/>
          </a:xfrm>
          <a:custGeom>
            <a:rect b="b" l="l" r="r" t="t"/>
            <a:pathLst>
              <a:path extrusionOk="0" h="6349974" w="635000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5342" r="-34649" t="0"/>
            </a:stretch>
          </a:blip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34"/>
          <p:cNvSpPr/>
          <p:nvPr/>
        </p:nvSpPr>
        <p:spPr>
          <a:xfrm>
            <a:off x="3733274" y="1685429"/>
            <a:ext cx="1677451" cy="1677444"/>
          </a:xfrm>
          <a:custGeom>
            <a:rect b="b" l="l" r="r" t="t"/>
            <a:pathLst>
              <a:path extrusionOk="0" h="6349974" w="635000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15002" r="-35082" t="0"/>
            </a:stretch>
          </a:blip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34"/>
          <p:cNvSpPr/>
          <p:nvPr/>
        </p:nvSpPr>
        <p:spPr>
          <a:xfrm>
            <a:off x="6692519" y="1685429"/>
            <a:ext cx="1677451" cy="1677444"/>
          </a:xfrm>
          <a:custGeom>
            <a:rect b="b" l="l" r="r" t="t"/>
            <a:pathLst>
              <a:path extrusionOk="0" h="6349974" w="6350000">
                <a:moveTo>
                  <a:pt x="6350000" y="3175025"/>
                </a:moveTo>
                <a:cubicBezTo>
                  <a:pt x="6350000" y="4928451"/>
                  <a:pt x="4928476" y="6349974"/>
                  <a:pt x="3175000" y="6349974"/>
                </a:cubicBezTo>
                <a:cubicBezTo>
                  <a:pt x="1421498" y="6349974"/>
                  <a:pt x="0" y="4928451"/>
                  <a:pt x="0" y="3175025"/>
                </a:cubicBezTo>
                <a:cubicBezTo>
                  <a:pt x="0" y="1421511"/>
                  <a:pt x="1421498" y="0"/>
                  <a:pt x="3175000" y="0"/>
                </a:cubicBezTo>
                <a:cubicBezTo>
                  <a:pt x="4928501" y="0"/>
                  <a:pt x="6350000" y="1421511"/>
                  <a:pt x="6350000" y="3175025"/>
                </a:cubicBez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56418" r="0" t="-1493"/>
            </a:stretch>
          </a:blip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7" name="Google Shape;277;p34"/>
          <p:cNvGrpSpPr/>
          <p:nvPr/>
        </p:nvGrpSpPr>
        <p:grpSpPr>
          <a:xfrm>
            <a:off x="-90487" y="4873383"/>
            <a:ext cx="9324975" cy="449821"/>
            <a:chOff x="0" y="-47625"/>
            <a:chExt cx="4911921" cy="236943"/>
          </a:xfrm>
        </p:grpSpPr>
        <p:sp>
          <p:nvSpPr>
            <p:cNvPr id="278" name="Google Shape;278;p34"/>
            <p:cNvSpPr/>
            <p:nvPr/>
          </p:nvSpPr>
          <p:spPr>
            <a:xfrm>
              <a:off x="0" y="0"/>
              <a:ext cx="4911921" cy="189318"/>
            </a:xfrm>
            <a:custGeom>
              <a:rect b="b" l="l" r="r" t="t"/>
              <a:pathLst>
                <a:path extrusionOk="0" h="189318" w="4911921">
                  <a:moveTo>
                    <a:pt x="0" y="0"/>
                  </a:moveTo>
                  <a:lnTo>
                    <a:pt x="4911921" y="0"/>
                  </a:lnTo>
                  <a:lnTo>
                    <a:pt x="4911921" y="189318"/>
                  </a:lnTo>
                  <a:lnTo>
                    <a:pt x="0" y="189318"/>
                  </a:lnTo>
                  <a:close/>
                </a:path>
              </a:pathLst>
            </a:custGeom>
            <a:solidFill>
              <a:srgbClr val="D1CAC9"/>
            </a:solidFill>
            <a:ln>
              <a:noFill/>
            </a:ln>
          </p:spPr>
        </p:sp>
        <p:sp>
          <p:nvSpPr>
            <p:cNvPr id="279" name="Google Shape;279;p34"/>
            <p:cNvSpPr txBox="1"/>
            <p:nvPr/>
          </p:nvSpPr>
          <p:spPr>
            <a:xfrm>
              <a:off x="0" y="-47625"/>
              <a:ext cx="4911921" cy="2369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80" name="Google Shape;280;p34"/>
          <p:cNvCxnSpPr/>
          <p:nvPr/>
        </p:nvCxnSpPr>
        <p:spPr>
          <a:xfrm>
            <a:off x="775072" y="3888718"/>
            <a:ext cx="1677451" cy="0"/>
          </a:xfrm>
          <a:prstGeom prst="straightConnector1">
            <a:avLst/>
          </a:prstGeom>
          <a:noFill/>
          <a:ln cap="flat" cmpd="sng" w="19050">
            <a:solidFill>
              <a:srgbClr val="AB969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1" name="Google Shape;281;p34"/>
          <p:cNvCxnSpPr/>
          <p:nvPr/>
        </p:nvCxnSpPr>
        <p:spPr>
          <a:xfrm>
            <a:off x="3733274" y="3888718"/>
            <a:ext cx="1677451" cy="0"/>
          </a:xfrm>
          <a:prstGeom prst="straightConnector1">
            <a:avLst/>
          </a:prstGeom>
          <a:noFill/>
          <a:ln cap="flat" cmpd="sng" w="19050">
            <a:solidFill>
              <a:srgbClr val="AB969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2" name="Google Shape;282;p34"/>
          <p:cNvCxnSpPr/>
          <p:nvPr/>
        </p:nvCxnSpPr>
        <p:spPr>
          <a:xfrm>
            <a:off x="6692519" y="3888718"/>
            <a:ext cx="1677451" cy="0"/>
          </a:xfrm>
          <a:prstGeom prst="straightConnector1">
            <a:avLst/>
          </a:prstGeom>
          <a:noFill/>
          <a:ln cap="flat" cmpd="sng" w="19050">
            <a:solidFill>
              <a:srgbClr val="AB969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3" name="Google Shape;283;p34"/>
          <p:cNvSpPr txBox="1"/>
          <p:nvPr/>
        </p:nvSpPr>
        <p:spPr>
          <a:xfrm>
            <a:off x="515392" y="3507880"/>
            <a:ext cx="21969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600">
                <a:solidFill>
                  <a:srgbClr val="665653"/>
                </a:solidFill>
              </a:rPr>
              <a:t>김지용</a:t>
            </a:r>
            <a:endParaRPr sz="700"/>
          </a:p>
        </p:txBody>
      </p:sp>
      <p:sp>
        <p:nvSpPr>
          <p:cNvPr id="284" name="Google Shape;284;p34"/>
          <p:cNvSpPr txBox="1"/>
          <p:nvPr/>
        </p:nvSpPr>
        <p:spPr>
          <a:xfrm>
            <a:off x="515392" y="4017305"/>
            <a:ext cx="21969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665653"/>
                </a:solidFill>
              </a:rPr>
              <a:t>기반 시스템 설계,  </a:t>
            </a:r>
            <a:endParaRPr sz="1200">
              <a:solidFill>
                <a:srgbClr val="665653"/>
              </a:solidFill>
            </a:endParaRPr>
          </a:p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665653"/>
                </a:solidFill>
              </a:rPr>
              <a:t>알고리즘 설계</a:t>
            </a:r>
            <a:endParaRPr sz="700"/>
          </a:p>
        </p:txBody>
      </p:sp>
      <p:sp>
        <p:nvSpPr>
          <p:cNvPr id="285" name="Google Shape;285;p34"/>
          <p:cNvSpPr txBox="1"/>
          <p:nvPr/>
        </p:nvSpPr>
        <p:spPr>
          <a:xfrm>
            <a:off x="3473594" y="4017305"/>
            <a:ext cx="21969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665653"/>
                </a:solidFill>
              </a:rPr>
              <a:t>레벨 디자인 및 플레이어 구현,</a:t>
            </a:r>
            <a:endParaRPr sz="1200">
              <a:solidFill>
                <a:srgbClr val="665653"/>
              </a:solidFill>
            </a:endParaRPr>
          </a:p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665653"/>
                </a:solidFill>
              </a:rPr>
              <a:t>멀티플레이 환경 구축</a:t>
            </a:r>
            <a:endParaRPr sz="1200">
              <a:solidFill>
                <a:srgbClr val="665653"/>
              </a:solidFill>
            </a:endParaRPr>
          </a:p>
        </p:txBody>
      </p:sp>
      <p:sp>
        <p:nvSpPr>
          <p:cNvPr id="286" name="Google Shape;286;p34"/>
          <p:cNvSpPr txBox="1"/>
          <p:nvPr/>
        </p:nvSpPr>
        <p:spPr>
          <a:xfrm>
            <a:off x="6432838" y="4017305"/>
            <a:ext cx="21969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665653"/>
                </a:solidFill>
              </a:rPr>
              <a:t>사운드 디자인,</a:t>
            </a:r>
            <a:endParaRPr sz="1200">
              <a:solidFill>
                <a:srgbClr val="665653"/>
              </a:solidFill>
            </a:endParaRPr>
          </a:p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665653"/>
                </a:solidFill>
              </a:rPr>
              <a:t>애니메이션 및 UI/UX설계,</a:t>
            </a:r>
            <a:endParaRPr sz="1200">
              <a:solidFill>
                <a:srgbClr val="665653"/>
              </a:solidFill>
            </a:endParaRPr>
          </a:p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665653"/>
                </a:solidFill>
              </a:rPr>
              <a:t>알고리즘 설계</a:t>
            </a:r>
            <a:endParaRPr sz="1200">
              <a:solidFill>
                <a:srgbClr val="665653"/>
              </a:solidFill>
            </a:endParaRPr>
          </a:p>
        </p:txBody>
      </p:sp>
      <p:sp>
        <p:nvSpPr>
          <p:cNvPr id="287" name="Google Shape;287;p34"/>
          <p:cNvSpPr txBox="1"/>
          <p:nvPr/>
        </p:nvSpPr>
        <p:spPr>
          <a:xfrm>
            <a:off x="3473594" y="3507880"/>
            <a:ext cx="21969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600" u="none" cap="none" strike="noStrike">
                <a:solidFill>
                  <a:srgbClr val="66565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ko" sz="1600">
                <a:solidFill>
                  <a:srgbClr val="665653"/>
                </a:solidFill>
              </a:rPr>
              <a:t>조민기</a:t>
            </a:r>
            <a:endParaRPr sz="700"/>
          </a:p>
        </p:txBody>
      </p:sp>
      <p:sp>
        <p:nvSpPr>
          <p:cNvPr id="288" name="Google Shape;288;p34"/>
          <p:cNvSpPr txBox="1"/>
          <p:nvPr/>
        </p:nvSpPr>
        <p:spPr>
          <a:xfrm>
            <a:off x="6432838" y="3507880"/>
            <a:ext cx="21969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600">
                <a:solidFill>
                  <a:srgbClr val="665653"/>
                </a:solidFill>
              </a:rPr>
              <a:t>홍준용</a:t>
            </a:r>
            <a:endParaRPr sz="700"/>
          </a:p>
        </p:txBody>
      </p:sp>
      <p:sp>
        <p:nvSpPr>
          <p:cNvPr id="289" name="Google Shape;289;p34"/>
          <p:cNvSpPr txBox="1"/>
          <p:nvPr/>
        </p:nvSpPr>
        <p:spPr>
          <a:xfrm>
            <a:off x="357645" y="327346"/>
            <a:ext cx="6103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600">
                <a:solidFill>
                  <a:srgbClr val="704F48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팀원 역할</a:t>
            </a:r>
            <a:endParaRPr sz="7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0EB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4" name="Google Shape;294;p35"/>
          <p:cNvGraphicFramePr/>
          <p:nvPr/>
        </p:nvGraphicFramePr>
        <p:xfrm>
          <a:off x="904536" y="119364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{E3BDD2F1-3645-4391-9540-F3B86AFE3CE9}</a:tableStyleId>
              </a:tblPr>
              <a:tblGrid>
                <a:gridCol w="2609125"/>
                <a:gridCol w="946425"/>
                <a:gridCol w="885950"/>
                <a:gridCol w="959975"/>
                <a:gridCol w="989000"/>
              </a:tblGrid>
              <a:tr h="377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 u="none" cap="none" strike="noStrike">
                          <a:solidFill>
                            <a:srgbClr val="3008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업무</a:t>
                      </a:r>
                      <a:endParaRPr sz="600" u="none" cap="none" strike="noStrike"/>
                    </a:p>
                  </a:txBody>
                  <a:tcPr marT="96300" marB="96300" marR="96300" marL="96300" anchor="ctr">
                    <a:lnL cap="flat" cmpd="sng" w="19050">
                      <a:solidFill>
                        <a:srgbClr val="F1F0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500">
                      <a:solidFill>
                        <a:srgbClr val="F1F0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565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>
                          <a:solidFill>
                            <a:srgbClr val="300800"/>
                          </a:solidFill>
                        </a:rPr>
                        <a:t>3월</a:t>
                      </a:r>
                      <a:endParaRPr sz="600" u="none" cap="none" strike="noStrike"/>
                    </a:p>
                  </a:txBody>
                  <a:tcPr marT="96300" marB="96300" marR="96300" marL="963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500">
                      <a:solidFill>
                        <a:srgbClr val="F1F0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565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>
                          <a:solidFill>
                            <a:srgbClr val="300800"/>
                          </a:solidFill>
                        </a:rPr>
                        <a:t>4월</a:t>
                      </a:r>
                      <a:endParaRPr sz="600" u="none" cap="none" strike="noStrike"/>
                    </a:p>
                  </a:txBody>
                  <a:tcPr marT="96300" marB="96300" marR="96300" marL="963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500">
                      <a:solidFill>
                        <a:srgbClr val="F1F0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565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CA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>
                          <a:solidFill>
                            <a:srgbClr val="300800"/>
                          </a:solidFill>
                        </a:rPr>
                        <a:t>5월</a:t>
                      </a:r>
                      <a:endParaRPr sz="600" u="none" cap="none" strike="noStrike"/>
                    </a:p>
                  </a:txBody>
                  <a:tcPr marT="96300" marB="96300" marR="96300" marL="963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500">
                      <a:solidFill>
                        <a:srgbClr val="F1F0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565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B2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>
                          <a:solidFill>
                            <a:srgbClr val="300800"/>
                          </a:solidFill>
                        </a:rPr>
                        <a:t>6월</a:t>
                      </a:r>
                      <a:endParaRPr sz="600" u="none" cap="none" strike="noStrike"/>
                    </a:p>
                  </a:txBody>
                  <a:tcPr marT="96300" marB="96300" marR="96300" marL="963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1F0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565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89B9B"/>
                    </a:solidFill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solidFill>
                            <a:srgbClr val="300800"/>
                          </a:solidFill>
                        </a:rPr>
                        <a:t>기반시스템 설계 및 개발</a:t>
                      </a:r>
                      <a:endParaRPr sz="600" u="none" cap="none" strike="noStrike"/>
                    </a:p>
                  </a:txBody>
                  <a:tcPr marT="96300" marB="96300" marR="96300" marL="96300" anchor="ctr">
                    <a:lnL cap="flat" cmpd="sng" w="19050">
                      <a:solidFill>
                        <a:srgbClr val="F1F0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565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250">
                      <a:solidFill>
                        <a:srgbClr val="EDEC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2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 u="none" cap="none" strike="noStrike"/>
                    </a:p>
                  </a:txBody>
                  <a:tcPr marT="96300" marB="96300" marR="96300" marL="963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565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250">
                      <a:solidFill>
                        <a:srgbClr val="EDEC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2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 u="none" cap="none" strike="noStrike"/>
                    </a:p>
                  </a:txBody>
                  <a:tcPr marT="96300" marB="96300" marR="96300" marL="963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565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2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 u="none" cap="none" strike="noStrike"/>
                    </a:p>
                  </a:txBody>
                  <a:tcPr marT="96300" marB="96300" marR="96300" marL="963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565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250">
                      <a:solidFill>
                        <a:srgbClr val="EDEC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2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 u="none" cap="none" strike="noStrike"/>
                    </a:p>
                  </a:txBody>
                  <a:tcPr marT="96300" marB="96300" marR="96300" marL="963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565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solidFill>
                            <a:srgbClr val="300800"/>
                          </a:solidFill>
                        </a:rPr>
                        <a:t>캐릭터 및 총기 구현, 플레이 시스템 구현</a:t>
                      </a:r>
                      <a:endParaRPr sz="600" u="none" cap="none" strike="noStrike"/>
                    </a:p>
                  </a:txBody>
                  <a:tcPr marT="96300" marB="96300" marR="96300" marL="96300" anchor="ctr">
                    <a:lnL cap="flat" cmpd="sng" w="19050">
                      <a:solidFill>
                        <a:srgbClr val="F1F0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250">
                      <a:solidFill>
                        <a:srgbClr val="EDEC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250">
                      <a:solidFill>
                        <a:srgbClr val="EDEC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2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 u="none" cap="none" strike="noStrike"/>
                    </a:p>
                  </a:txBody>
                  <a:tcPr marT="96300" marB="96300" marR="96300" marL="963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250">
                      <a:solidFill>
                        <a:srgbClr val="EDEC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250">
                      <a:solidFill>
                        <a:srgbClr val="EDEC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2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 u="none" cap="none" strike="noStrike"/>
                    </a:p>
                  </a:txBody>
                  <a:tcPr marT="96300" marB="96300" marR="96300" marL="963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2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 u="none" cap="none" strike="noStrike"/>
                    </a:p>
                  </a:txBody>
                  <a:tcPr marT="96300" marB="96300" marR="96300" marL="963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250">
                      <a:solidFill>
                        <a:srgbClr val="EDEC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250">
                      <a:solidFill>
                        <a:srgbClr val="EDEC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2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 u="none" cap="none" strike="noStrike"/>
                    </a:p>
                  </a:txBody>
                  <a:tcPr marT="96300" marB="96300" marR="96300" marL="963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ko" sz="900">
                          <a:solidFill>
                            <a:srgbClr val="300800"/>
                          </a:solidFill>
                        </a:rPr>
                        <a:t>애니메이션</a:t>
                      </a:r>
                      <a:endParaRPr sz="600" u="none" cap="none" strike="noStrike"/>
                    </a:p>
                  </a:txBody>
                  <a:tcPr marT="96300" marB="96300" marR="96300" marL="96300" anchor="ctr">
                    <a:lnL cap="flat" cmpd="sng" w="19050">
                      <a:solidFill>
                        <a:srgbClr val="F1F0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250">
                      <a:solidFill>
                        <a:srgbClr val="EDEC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250">
                      <a:solidFill>
                        <a:srgbClr val="EDEC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2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 u="none" cap="none" strike="noStrike"/>
                    </a:p>
                  </a:txBody>
                  <a:tcPr marT="96300" marB="96300" marR="96300" marL="963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250">
                      <a:solidFill>
                        <a:srgbClr val="EDEC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250">
                      <a:solidFill>
                        <a:srgbClr val="EDEC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2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 u="none" cap="none" strike="noStrike"/>
                    </a:p>
                  </a:txBody>
                  <a:tcPr marT="96300" marB="96300" marR="96300" marL="963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2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 u="none" cap="none" strike="noStrike"/>
                    </a:p>
                  </a:txBody>
                  <a:tcPr marT="96300" marB="96300" marR="96300" marL="963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250">
                      <a:solidFill>
                        <a:srgbClr val="EDEC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250">
                      <a:solidFill>
                        <a:srgbClr val="EDEC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2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 u="none" cap="none" strike="noStrike"/>
                    </a:p>
                  </a:txBody>
                  <a:tcPr marT="96300" marB="96300" marR="96300" marL="963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ko" sz="900">
                          <a:solidFill>
                            <a:srgbClr val="300800"/>
                          </a:solidFill>
                        </a:rPr>
                        <a:t>UI/UX 구현</a:t>
                      </a:r>
                      <a:endParaRPr sz="600" u="none" cap="none" strike="noStrike"/>
                    </a:p>
                  </a:txBody>
                  <a:tcPr marT="96300" marB="96300" marR="96300" marL="96300" anchor="ctr">
                    <a:lnL cap="flat" cmpd="sng" w="19050">
                      <a:solidFill>
                        <a:srgbClr val="F1F0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250">
                      <a:solidFill>
                        <a:srgbClr val="EDEC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250">
                      <a:solidFill>
                        <a:srgbClr val="EDEC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2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 u="none" cap="none" strike="noStrike"/>
                    </a:p>
                  </a:txBody>
                  <a:tcPr marT="96300" marB="96300" marR="96300" marL="963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250">
                      <a:solidFill>
                        <a:srgbClr val="EDEC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250">
                      <a:solidFill>
                        <a:srgbClr val="EDEC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2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 u="none" cap="none" strike="noStrike"/>
                    </a:p>
                  </a:txBody>
                  <a:tcPr marT="96300" marB="96300" marR="96300" marL="963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2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 u="none" cap="none" strike="noStrike"/>
                    </a:p>
                  </a:txBody>
                  <a:tcPr marT="96300" marB="96300" marR="96300" marL="963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250">
                      <a:solidFill>
                        <a:srgbClr val="EDEC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250">
                      <a:solidFill>
                        <a:srgbClr val="EDEC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2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 u="none" cap="none" strike="noStrike"/>
                    </a:p>
                  </a:txBody>
                  <a:tcPr marT="96300" marB="96300" marR="96300" marL="963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ko" sz="900">
                          <a:solidFill>
                            <a:srgbClr val="300800"/>
                          </a:solidFill>
                        </a:rPr>
                        <a:t>알고리즘 구현</a:t>
                      </a:r>
                      <a:endParaRPr sz="600" u="none" cap="none" strike="noStrike"/>
                    </a:p>
                  </a:txBody>
                  <a:tcPr marT="96300" marB="96300" marR="96300" marL="96300" anchor="ctr">
                    <a:lnL cap="flat" cmpd="sng" w="19050">
                      <a:solidFill>
                        <a:srgbClr val="F1F0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250">
                      <a:solidFill>
                        <a:srgbClr val="EDEC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250">
                      <a:solidFill>
                        <a:srgbClr val="EDEC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2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 u="none" cap="none" strike="noStrike"/>
                    </a:p>
                  </a:txBody>
                  <a:tcPr marT="96300" marB="96300" marR="96300" marL="963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250">
                      <a:solidFill>
                        <a:srgbClr val="EDEC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250">
                      <a:solidFill>
                        <a:srgbClr val="EDEC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2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 u="none" cap="none" strike="noStrike"/>
                    </a:p>
                  </a:txBody>
                  <a:tcPr marT="96300" marB="96300" marR="96300" marL="963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2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 u="none" cap="none" strike="noStrike"/>
                    </a:p>
                  </a:txBody>
                  <a:tcPr marT="96300" marB="96300" marR="96300" marL="963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250">
                      <a:solidFill>
                        <a:srgbClr val="EDEC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250">
                      <a:solidFill>
                        <a:srgbClr val="EDEC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2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 u="none" cap="none" strike="noStrike"/>
                    </a:p>
                  </a:txBody>
                  <a:tcPr marT="96300" marB="96300" marR="96300" marL="963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cxnSp>
        <p:nvCxnSpPr>
          <p:cNvPr id="295" name="Google Shape;295;p35"/>
          <p:cNvCxnSpPr/>
          <p:nvPr/>
        </p:nvCxnSpPr>
        <p:spPr>
          <a:xfrm>
            <a:off x="3523077" y="1749189"/>
            <a:ext cx="925800" cy="2100"/>
          </a:xfrm>
          <a:prstGeom prst="straightConnector1">
            <a:avLst/>
          </a:prstGeom>
          <a:noFill/>
          <a:ln cap="flat" cmpd="sng" w="114300">
            <a:solidFill>
              <a:srgbClr val="DD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6" name="Google Shape;296;p35"/>
          <p:cNvCxnSpPr/>
          <p:nvPr/>
        </p:nvCxnSpPr>
        <p:spPr>
          <a:xfrm flipH="1" rot="10800000">
            <a:off x="4449150" y="2117075"/>
            <a:ext cx="2852700" cy="1800"/>
          </a:xfrm>
          <a:prstGeom prst="straightConnector1">
            <a:avLst/>
          </a:prstGeom>
          <a:noFill/>
          <a:ln cap="flat" cmpd="sng" w="114300">
            <a:solidFill>
              <a:srgbClr val="D1CAC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7" name="Google Shape;297;p35"/>
          <p:cNvCxnSpPr/>
          <p:nvPr/>
        </p:nvCxnSpPr>
        <p:spPr>
          <a:xfrm>
            <a:off x="5354650" y="2478625"/>
            <a:ext cx="1940100" cy="300"/>
          </a:xfrm>
          <a:prstGeom prst="straightConnector1">
            <a:avLst/>
          </a:prstGeom>
          <a:noFill/>
          <a:ln cap="flat" cmpd="sng" w="114300">
            <a:solidFill>
              <a:srgbClr val="D1CAC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8" name="Google Shape;298;p35"/>
          <p:cNvCxnSpPr/>
          <p:nvPr/>
        </p:nvCxnSpPr>
        <p:spPr>
          <a:xfrm>
            <a:off x="5359175" y="2851700"/>
            <a:ext cx="1942800" cy="300"/>
          </a:xfrm>
          <a:prstGeom prst="straightConnector1">
            <a:avLst/>
          </a:prstGeom>
          <a:noFill/>
          <a:ln cap="flat" cmpd="sng" w="114300">
            <a:solidFill>
              <a:srgbClr val="D1CAC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9" name="Google Shape;299;p35"/>
          <p:cNvCxnSpPr/>
          <p:nvPr/>
        </p:nvCxnSpPr>
        <p:spPr>
          <a:xfrm flipH="1" rot="10800000">
            <a:off x="6303400" y="3270050"/>
            <a:ext cx="991800" cy="300"/>
          </a:xfrm>
          <a:prstGeom prst="straightConnector1">
            <a:avLst/>
          </a:prstGeom>
          <a:noFill/>
          <a:ln cap="flat" cmpd="sng" w="114300">
            <a:solidFill>
              <a:srgbClr val="BBB2B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00" name="Google Shape;300;p35"/>
          <p:cNvGrpSpPr/>
          <p:nvPr/>
        </p:nvGrpSpPr>
        <p:grpSpPr>
          <a:xfrm>
            <a:off x="-90487" y="4873383"/>
            <a:ext cx="9324975" cy="449821"/>
            <a:chOff x="0" y="-47625"/>
            <a:chExt cx="4911921" cy="236943"/>
          </a:xfrm>
        </p:grpSpPr>
        <p:sp>
          <p:nvSpPr>
            <p:cNvPr id="301" name="Google Shape;301;p35"/>
            <p:cNvSpPr/>
            <p:nvPr/>
          </p:nvSpPr>
          <p:spPr>
            <a:xfrm>
              <a:off x="0" y="0"/>
              <a:ext cx="4911921" cy="189318"/>
            </a:xfrm>
            <a:custGeom>
              <a:rect b="b" l="l" r="r" t="t"/>
              <a:pathLst>
                <a:path extrusionOk="0" h="189318" w="4911921">
                  <a:moveTo>
                    <a:pt x="0" y="0"/>
                  </a:moveTo>
                  <a:lnTo>
                    <a:pt x="4911921" y="0"/>
                  </a:lnTo>
                  <a:lnTo>
                    <a:pt x="4911921" y="189318"/>
                  </a:lnTo>
                  <a:lnTo>
                    <a:pt x="0" y="189318"/>
                  </a:lnTo>
                  <a:close/>
                </a:path>
              </a:pathLst>
            </a:custGeom>
            <a:solidFill>
              <a:srgbClr val="D1CAC9"/>
            </a:solidFill>
            <a:ln>
              <a:noFill/>
            </a:ln>
          </p:spPr>
        </p:sp>
        <p:sp>
          <p:nvSpPr>
            <p:cNvPr id="302" name="Google Shape;302;p35"/>
            <p:cNvSpPr txBox="1"/>
            <p:nvPr/>
          </p:nvSpPr>
          <p:spPr>
            <a:xfrm>
              <a:off x="0" y="-47625"/>
              <a:ext cx="4911921" cy="2369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3" name="Google Shape;303;p35"/>
          <p:cNvSpPr txBox="1"/>
          <p:nvPr/>
        </p:nvSpPr>
        <p:spPr>
          <a:xfrm>
            <a:off x="357645" y="327346"/>
            <a:ext cx="6103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600">
                <a:solidFill>
                  <a:srgbClr val="704F48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계획</a:t>
            </a:r>
            <a:endParaRPr sz="7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0EB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8" name="Google Shape;308;p36"/>
          <p:cNvGraphicFramePr/>
          <p:nvPr/>
        </p:nvGraphicFramePr>
        <p:xfrm>
          <a:off x="904536" y="119364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{E3BDD2F1-3645-4391-9540-F3B86AFE3CE9}</a:tableStyleId>
              </a:tblPr>
              <a:tblGrid>
                <a:gridCol w="2609125"/>
                <a:gridCol w="946425"/>
                <a:gridCol w="885950"/>
                <a:gridCol w="959975"/>
                <a:gridCol w="989000"/>
                <a:gridCol w="934700"/>
              </a:tblGrid>
              <a:tr h="377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 u="none" cap="none" strike="noStrike">
                          <a:solidFill>
                            <a:srgbClr val="3008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업무</a:t>
                      </a:r>
                      <a:endParaRPr sz="600" u="none" cap="none" strike="noStrike"/>
                    </a:p>
                  </a:txBody>
                  <a:tcPr marT="96300" marB="96300" marR="96300" marL="96300" anchor="ctr">
                    <a:lnL cap="flat" cmpd="sng" w="19050">
                      <a:solidFill>
                        <a:srgbClr val="F1F0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500">
                      <a:solidFill>
                        <a:srgbClr val="F1F0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565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b="1" lang="ko" sz="900">
                          <a:solidFill>
                            <a:srgbClr val="300800"/>
                          </a:solidFill>
                        </a:rPr>
                        <a:t>7월</a:t>
                      </a:r>
                      <a:endParaRPr sz="600" u="none" cap="none" strike="noStrike"/>
                    </a:p>
                  </a:txBody>
                  <a:tcPr marT="96300" marB="96300" marR="96300" marL="963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500">
                      <a:solidFill>
                        <a:srgbClr val="F1F0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565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D8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>
                          <a:solidFill>
                            <a:srgbClr val="300800"/>
                          </a:solidFill>
                        </a:rPr>
                        <a:t>8월</a:t>
                      </a:r>
                      <a:endParaRPr sz="600" u="none" cap="none" strike="noStrike"/>
                    </a:p>
                  </a:txBody>
                  <a:tcPr marT="96300" marB="96300" marR="96300" marL="963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500">
                      <a:solidFill>
                        <a:srgbClr val="F1F0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565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1CA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>
                          <a:solidFill>
                            <a:srgbClr val="300800"/>
                          </a:solidFill>
                        </a:rPr>
                        <a:t>9월</a:t>
                      </a:r>
                      <a:endParaRPr sz="600" u="none" cap="none" strike="noStrike"/>
                    </a:p>
                  </a:txBody>
                  <a:tcPr marT="96300" marB="96300" marR="96300" marL="963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500">
                      <a:solidFill>
                        <a:srgbClr val="F1F0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565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B2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>
                          <a:solidFill>
                            <a:srgbClr val="300800"/>
                          </a:solidFill>
                        </a:rPr>
                        <a:t>10월</a:t>
                      </a:r>
                      <a:endParaRPr sz="600" u="none" cap="none" strike="noStrike"/>
                    </a:p>
                  </a:txBody>
                  <a:tcPr marT="96300" marB="96300" marR="96300" marL="963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1F0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565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89B9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>
                          <a:solidFill>
                            <a:srgbClr val="300800"/>
                          </a:solidFill>
                        </a:rPr>
                        <a:t>11월</a:t>
                      </a:r>
                      <a:endParaRPr sz="600" u="none" cap="none" strike="noStrike"/>
                    </a:p>
                  </a:txBody>
                  <a:tcPr marT="96300" marB="96300" marR="96300" marL="963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1F0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6565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27C7C"/>
                    </a:solidFill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ko" sz="900">
                          <a:solidFill>
                            <a:srgbClr val="300800"/>
                          </a:solidFill>
                        </a:rPr>
                        <a:t>알고리즘 구현</a:t>
                      </a:r>
                      <a:endParaRPr sz="600" u="none" cap="none" strike="noStrike"/>
                    </a:p>
                  </a:txBody>
                  <a:tcPr marT="96300" marB="96300" marR="96300" marL="96300" anchor="ctr">
                    <a:lnL cap="flat" cmpd="sng" w="19050">
                      <a:solidFill>
                        <a:srgbClr val="F1F0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565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250">
                      <a:solidFill>
                        <a:srgbClr val="EDEC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2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 u="none" cap="none" strike="noStrike"/>
                    </a:p>
                  </a:txBody>
                  <a:tcPr marT="96300" marB="96300" marR="96300" marL="963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565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250">
                      <a:solidFill>
                        <a:srgbClr val="EDEC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2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 u="none" cap="none" strike="noStrike"/>
                    </a:p>
                  </a:txBody>
                  <a:tcPr marT="96300" marB="96300" marR="96300" marL="963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565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2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 u="none" cap="none" strike="noStrike"/>
                    </a:p>
                  </a:txBody>
                  <a:tcPr marT="96300" marB="96300" marR="96300" marL="963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565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250">
                      <a:solidFill>
                        <a:srgbClr val="EDEC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2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 u="none" cap="none" strike="noStrike"/>
                    </a:p>
                  </a:txBody>
                  <a:tcPr marT="96300" marB="96300" marR="96300" marL="963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565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2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 u="none" cap="none" strike="noStrike"/>
                    </a:p>
                  </a:txBody>
                  <a:tcPr marT="96300" marB="96300" marR="96300" marL="963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1F0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6565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250">
                      <a:solidFill>
                        <a:srgbClr val="EDEC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solidFill>
                            <a:srgbClr val="300800"/>
                          </a:solidFill>
                        </a:rPr>
                        <a:t>멀티 플레이 환경 구축</a:t>
                      </a:r>
                      <a:endParaRPr sz="600" u="none" cap="none" strike="noStrike"/>
                    </a:p>
                  </a:txBody>
                  <a:tcPr marT="96300" marB="96300" marR="96300" marL="96300" anchor="ctr">
                    <a:lnL cap="flat" cmpd="sng" w="19050">
                      <a:solidFill>
                        <a:srgbClr val="F1F0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250">
                      <a:solidFill>
                        <a:srgbClr val="EDEC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250">
                      <a:solidFill>
                        <a:srgbClr val="EDEC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2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 u="none" cap="none" strike="noStrike"/>
                    </a:p>
                  </a:txBody>
                  <a:tcPr marT="96300" marB="96300" marR="96300" marL="963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250">
                      <a:solidFill>
                        <a:srgbClr val="EDEC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250">
                      <a:solidFill>
                        <a:srgbClr val="EDEC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2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 u="none" cap="none" strike="noStrike"/>
                    </a:p>
                  </a:txBody>
                  <a:tcPr marT="96300" marB="96300" marR="96300" marL="963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2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 u="none" cap="none" strike="noStrike"/>
                    </a:p>
                  </a:txBody>
                  <a:tcPr marT="96300" marB="96300" marR="96300" marL="963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250">
                      <a:solidFill>
                        <a:srgbClr val="EDEC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250">
                      <a:solidFill>
                        <a:srgbClr val="EDEC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2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 u="none" cap="none" strike="noStrike"/>
                    </a:p>
                  </a:txBody>
                  <a:tcPr marT="96300" marB="96300" marR="96300" marL="963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2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 u="none" cap="none" strike="noStrike"/>
                    </a:p>
                  </a:txBody>
                  <a:tcPr marT="96300" marB="96300" marR="96300" marL="963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1F0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250">
                      <a:solidFill>
                        <a:srgbClr val="EDEC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250">
                      <a:solidFill>
                        <a:srgbClr val="EDEC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ko" sz="900">
                          <a:solidFill>
                            <a:srgbClr val="300800"/>
                          </a:solidFill>
                        </a:rPr>
                        <a:t>최종 테스트 및 수정</a:t>
                      </a:r>
                      <a:endParaRPr sz="600" u="none" cap="none" strike="noStrike"/>
                    </a:p>
                  </a:txBody>
                  <a:tcPr marT="96300" marB="96300" marR="96300" marL="96300" anchor="ctr">
                    <a:lnL cap="flat" cmpd="sng" w="19050">
                      <a:solidFill>
                        <a:srgbClr val="F1F0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250">
                      <a:solidFill>
                        <a:srgbClr val="EDEC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250">
                      <a:solidFill>
                        <a:srgbClr val="EDEC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2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 u="none" cap="none" strike="noStrike"/>
                    </a:p>
                  </a:txBody>
                  <a:tcPr marT="96300" marB="96300" marR="96300" marL="963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250">
                      <a:solidFill>
                        <a:srgbClr val="EDEC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250">
                      <a:solidFill>
                        <a:srgbClr val="EDEC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2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 u="none" cap="none" strike="noStrike"/>
                    </a:p>
                  </a:txBody>
                  <a:tcPr marT="96300" marB="96300" marR="96300" marL="963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2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 u="none" cap="none" strike="noStrike"/>
                    </a:p>
                  </a:txBody>
                  <a:tcPr marT="96300" marB="96300" marR="96300" marL="963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250">
                      <a:solidFill>
                        <a:srgbClr val="EDEC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250">
                      <a:solidFill>
                        <a:srgbClr val="EDEC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2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 u="none" cap="none" strike="noStrike"/>
                    </a:p>
                  </a:txBody>
                  <a:tcPr marT="96300" marB="96300" marR="96300" marL="963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2909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 u="none" cap="none" strike="noStrike"/>
                    </a:p>
                  </a:txBody>
                  <a:tcPr marT="96300" marB="96300" marR="96300" marL="96300" anchor="ctr">
                    <a:lnL cap="flat" cmpd="sng" w="1905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1F0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250">
                      <a:solidFill>
                        <a:srgbClr val="EDECE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250">
                      <a:solidFill>
                        <a:srgbClr val="EDECE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cxnSp>
        <p:nvCxnSpPr>
          <p:cNvPr id="309" name="Google Shape;309;p36"/>
          <p:cNvCxnSpPr/>
          <p:nvPr/>
        </p:nvCxnSpPr>
        <p:spPr>
          <a:xfrm>
            <a:off x="3523077" y="1749189"/>
            <a:ext cx="1386600" cy="1200"/>
          </a:xfrm>
          <a:prstGeom prst="straightConnector1">
            <a:avLst/>
          </a:prstGeom>
          <a:noFill/>
          <a:ln cap="flat" cmpd="sng" w="114300">
            <a:solidFill>
              <a:srgbClr val="DDD8D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0" name="Google Shape;310;p36"/>
          <p:cNvCxnSpPr/>
          <p:nvPr/>
        </p:nvCxnSpPr>
        <p:spPr>
          <a:xfrm flipH="1" rot="10800000">
            <a:off x="4452650" y="2108275"/>
            <a:ext cx="2339700" cy="3300"/>
          </a:xfrm>
          <a:prstGeom prst="straightConnector1">
            <a:avLst/>
          </a:prstGeom>
          <a:noFill/>
          <a:ln cap="flat" cmpd="sng" w="114300">
            <a:solidFill>
              <a:srgbClr val="D1CAC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1" name="Google Shape;311;p36"/>
          <p:cNvCxnSpPr/>
          <p:nvPr/>
        </p:nvCxnSpPr>
        <p:spPr>
          <a:xfrm flipH="1" rot="10800000">
            <a:off x="6832675" y="2479525"/>
            <a:ext cx="1399200" cy="300"/>
          </a:xfrm>
          <a:prstGeom prst="straightConnector1">
            <a:avLst/>
          </a:prstGeom>
          <a:noFill/>
          <a:ln cap="flat" cmpd="sng" w="114300">
            <a:solidFill>
              <a:srgbClr val="927C7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12" name="Google Shape;312;p36"/>
          <p:cNvGrpSpPr/>
          <p:nvPr/>
        </p:nvGrpSpPr>
        <p:grpSpPr>
          <a:xfrm>
            <a:off x="-90487" y="4873385"/>
            <a:ext cx="9324791" cy="449921"/>
            <a:chOff x="0" y="-47625"/>
            <a:chExt cx="4911921" cy="237000"/>
          </a:xfrm>
        </p:grpSpPr>
        <p:sp>
          <p:nvSpPr>
            <p:cNvPr id="313" name="Google Shape;313;p36"/>
            <p:cNvSpPr/>
            <p:nvPr/>
          </p:nvSpPr>
          <p:spPr>
            <a:xfrm>
              <a:off x="0" y="0"/>
              <a:ext cx="4911921" cy="189318"/>
            </a:xfrm>
            <a:custGeom>
              <a:rect b="b" l="l" r="r" t="t"/>
              <a:pathLst>
                <a:path extrusionOk="0" h="189318" w="4911921">
                  <a:moveTo>
                    <a:pt x="0" y="0"/>
                  </a:moveTo>
                  <a:lnTo>
                    <a:pt x="4911921" y="0"/>
                  </a:lnTo>
                  <a:lnTo>
                    <a:pt x="4911921" y="189318"/>
                  </a:lnTo>
                  <a:lnTo>
                    <a:pt x="0" y="189318"/>
                  </a:lnTo>
                  <a:close/>
                </a:path>
              </a:pathLst>
            </a:custGeom>
            <a:solidFill>
              <a:srgbClr val="D1CAC9"/>
            </a:solidFill>
            <a:ln>
              <a:noFill/>
            </a:ln>
          </p:spPr>
        </p:sp>
        <p:sp>
          <p:nvSpPr>
            <p:cNvPr id="314" name="Google Shape;314;p36"/>
            <p:cNvSpPr txBox="1"/>
            <p:nvPr/>
          </p:nvSpPr>
          <p:spPr>
            <a:xfrm>
              <a:off x="0" y="-47625"/>
              <a:ext cx="4911900" cy="23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5" name="Google Shape;315;p36"/>
          <p:cNvSpPr txBox="1"/>
          <p:nvPr/>
        </p:nvSpPr>
        <p:spPr>
          <a:xfrm>
            <a:off x="357645" y="327346"/>
            <a:ext cx="6103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600">
                <a:solidFill>
                  <a:srgbClr val="704F48"/>
                </a:solidFill>
                <a:latin typeface="Nanum Myeongjo"/>
                <a:ea typeface="Nanum Myeongjo"/>
                <a:cs typeface="Nanum Myeongjo"/>
                <a:sym typeface="Nanum Myeongjo"/>
              </a:rPr>
              <a:t>계획</a:t>
            </a:r>
            <a:endParaRPr sz="7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p37"/>
          <p:cNvPicPr preferRelativeResize="0"/>
          <p:nvPr/>
        </p:nvPicPr>
        <p:blipFill rotWithShape="1">
          <a:blip r:embed="rId3">
            <a:alphaModFix/>
          </a:blip>
          <a:srcRect b="559" l="13309" r="224" t="12973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37"/>
          <p:cNvSpPr txBox="1"/>
          <p:nvPr/>
        </p:nvSpPr>
        <p:spPr>
          <a:xfrm>
            <a:off x="362408" y="2786451"/>
            <a:ext cx="396087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800" u="none" cap="none" strike="noStrike">
                <a:solidFill>
                  <a:srgbClr val="704F48"/>
                </a:solidFill>
                <a:latin typeface="Arial"/>
                <a:ea typeface="Arial"/>
                <a:cs typeface="Arial"/>
                <a:sym typeface="Arial"/>
              </a:rPr>
              <a:t>감사합니다</a:t>
            </a:r>
            <a:endParaRPr sz="700"/>
          </a:p>
        </p:txBody>
      </p:sp>
      <p:sp>
        <p:nvSpPr>
          <p:cNvPr id="322" name="Google Shape;322;p37"/>
          <p:cNvSpPr txBox="1"/>
          <p:nvPr/>
        </p:nvSpPr>
        <p:spPr>
          <a:xfrm>
            <a:off x="362408" y="2126845"/>
            <a:ext cx="396087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4500" u="none" cap="none" strike="noStrike">
                <a:solidFill>
                  <a:srgbClr val="704F48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7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0EB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8"/>
          <p:cNvSpPr txBox="1"/>
          <p:nvPr/>
        </p:nvSpPr>
        <p:spPr>
          <a:xfrm>
            <a:off x="1390942" y="628506"/>
            <a:ext cx="6362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rgbClr val="665653"/>
                </a:solidFill>
              </a:rPr>
              <a:t>사진 출처</a:t>
            </a:r>
            <a:endParaRPr sz="700"/>
          </a:p>
        </p:txBody>
      </p:sp>
      <p:sp>
        <p:nvSpPr>
          <p:cNvPr id="328" name="Google Shape;328;p38"/>
          <p:cNvSpPr txBox="1"/>
          <p:nvPr/>
        </p:nvSpPr>
        <p:spPr>
          <a:xfrm>
            <a:off x="1390951" y="1147200"/>
            <a:ext cx="7227000" cy="19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66565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5250" lvl="1" marL="19050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665653"/>
              </a:buClr>
              <a:buSzPts val="900"/>
              <a:buFont typeface="Arial"/>
              <a:buChar char="•"/>
            </a:pPr>
            <a:r>
              <a:rPr lang="ko" sz="900">
                <a:solidFill>
                  <a:srgbClr val="665653"/>
                </a:solidFill>
              </a:rPr>
              <a:t>게임 PUBG:BLINDSPOT, </a:t>
            </a:r>
            <a:r>
              <a:rPr lang="ko" sz="900" u="sng">
                <a:solidFill>
                  <a:schemeClr val="hlink"/>
                </a:solidFill>
                <a:hlinkClick r:id="rId3"/>
              </a:rPr>
              <a:t>https://store.steampowered.com/app/3143710/PUBG_BLINDSPOT/?l=koreana</a:t>
            </a:r>
            <a:endParaRPr sz="700"/>
          </a:p>
          <a:p>
            <a:pPr indent="0" lvl="0" marL="91440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  <a:p>
            <a:pPr indent="-76200" lvl="1" marL="19050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665653"/>
              </a:buClr>
              <a:buSzPts val="600"/>
              <a:buChar char="•"/>
            </a:pPr>
            <a:r>
              <a:rPr lang="ko" sz="900">
                <a:solidFill>
                  <a:srgbClr val="665653"/>
                </a:solidFill>
              </a:rPr>
              <a:t>게임 레인보우식스 시즈, </a:t>
            </a:r>
            <a:r>
              <a:rPr lang="ko" sz="700" u="sng">
                <a:solidFill>
                  <a:schemeClr val="hlink"/>
                </a:solidFill>
                <a:hlinkClick r:id="rId4"/>
              </a:rPr>
              <a:t>https://thewiki.kr/w/%EB%A0%88%EC%9D%B8%EB%B3%B4%EC%9A%B0%20%EC%8B%9D%EC%8A%A4%20%EC%8B%9C%EC%A6%88/%EB%A7%B5/%EC%A0%80%ED%83%9D</a:t>
            </a:r>
            <a:endParaRPr sz="900">
              <a:solidFill>
                <a:srgbClr val="665653"/>
              </a:solidFill>
            </a:endParaRPr>
          </a:p>
          <a:p>
            <a:pPr indent="0" lvl="0" marL="91440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/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665653"/>
              </a:solidFill>
            </a:endParaRPr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665653"/>
              </a:solidFill>
            </a:endParaRPr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900" u="none" cap="none" strike="noStrike">
              <a:solidFill>
                <a:srgbClr val="66565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</p:txBody>
      </p:sp>
      <p:cxnSp>
        <p:nvCxnSpPr>
          <p:cNvPr id="329" name="Google Shape;329;p38"/>
          <p:cNvCxnSpPr/>
          <p:nvPr/>
        </p:nvCxnSpPr>
        <p:spPr>
          <a:xfrm>
            <a:off x="1390942" y="444897"/>
            <a:ext cx="6362116" cy="0"/>
          </a:xfrm>
          <a:prstGeom prst="straightConnector1">
            <a:avLst/>
          </a:prstGeom>
          <a:noFill/>
          <a:ln cap="flat" cmpd="sng" w="28575">
            <a:solidFill>
              <a:srgbClr val="AB9696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30" name="Google Shape;330;p38"/>
          <p:cNvGrpSpPr/>
          <p:nvPr/>
        </p:nvGrpSpPr>
        <p:grpSpPr>
          <a:xfrm>
            <a:off x="-90487" y="4873383"/>
            <a:ext cx="9324975" cy="449821"/>
            <a:chOff x="0" y="-47625"/>
            <a:chExt cx="4911921" cy="236943"/>
          </a:xfrm>
        </p:grpSpPr>
        <p:sp>
          <p:nvSpPr>
            <p:cNvPr id="331" name="Google Shape;331;p38"/>
            <p:cNvSpPr/>
            <p:nvPr/>
          </p:nvSpPr>
          <p:spPr>
            <a:xfrm>
              <a:off x="0" y="0"/>
              <a:ext cx="4911921" cy="189318"/>
            </a:xfrm>
            <a:custGeom>
              <a:rect b="b" l="l" r="r" t="t"/>
              <a:pathLst>
                <a:path extrusionOk="0" h="189318" w="4911921">
                  <a:moveTo>
                    <a:pt x="0" y="0"/>
                  </a:moveTo>
                  <a:lnTo>
                    <a:pt x="4911921" y="0"/>
                  </a:lnTo>
                  <a:lnTo>
                    <a:pt x="4911921" y="189318"/>
                  </a:lnTo>
                  <a:lnTo>
                    <a:pt x="0" y="189318"/>
                  </a:lnTo>
                  <a:close/>
                </a:path>
              </a:pathLst>
            </a:custGeom>
            <a:solidFill>
              <a:srgbClr val="D1CAC9"/>
            </a:solidFill>
            <a:ln>
              <a:noFill/>
            </a:ln>
          </p:spPr>
        </p:sp>
        <p:sp>
          <p:nvSpPr>
            <p:cNvPr id="332" name="Google Shape;332;p38"/>
            <p:cNvSpPr txBox="1"/>
            <p:nvPr/>
          </p:nvSpPr>
          <p:spPr>
            <a:xfrm>
              <a:off x="0" y="-47625"/>
              <a:ext cx="4911921" cy="2369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0EB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7" name="Google Shape;337;p39"/>
          <p:cNvGrpSpPr/>
          <p:nvPr/>
        </p:nvGrpSpPr>
        <p:grpSpPr>
          <a:xfrm>
            <a:off x="-90487" y="4873383"/>
            <a:ext cx="9324975" cy="449821"/>
            <a:chOff x="0" y="-47625"/>
            <a:chExt cx="4911921" cy="236943"/>
          </a:xfrm>
        </p:grpSpPr>
        <p:sp>
          <p:nvSpPr>
            <p:cNvPr id="338" name="Google Shape;338;p39"/>
            <p:cNvSpPr/>
            <p:nvPr/>
          </p:nvSpPr>
          <p:spPr>
            <a:xfrm>
              <a:off x="0" y="0"/>
              <a:ext cx="4911921" cy="189318"/>
            </a:xfrm>
            <a:custGeom>
              <a:rect b="b" l="l" r="r" t="t"/>
              <a:pathLst>
                <a:path extrusionOk="0" h="189318" w="4911921">
                  <a:moveTo>
                    <a:pt x="0" y="0"/>
                  </a:moveTo>
                  <a:lnTo>
                    <a:pt x="4911921" y="0"/>
                  </a:lnTo>
                  <a:lnTo>
                    <a:pt x="4911921" y="189318"/>
                  </a:lnTo>
                  <a:lnTo>
                    <a:pt x="0" y="189318"/>
                  </a:lnTo>
                  <a:close/>
                </a:path>
              </a:pathLst>
            </a:custGeom>
            <a:solidFill>
              <a:srgbClr val="D1CAC9"/>
            </a:solidFill>
            <a:ln>
              <a:noFill/>
            </a:ln>
          </p:spPr>
        </p:sp>
        <p:sp>
          <p:nvSpPr>
            <p:cNvPr id="339" name="Google Shape;339;p39"/>
            <p:cNvSpPr txBox="1"/>
            <p:nvPr/>
          </p:nvSpPr>
          <p:spPr>
            <a:xfrm>
              <a:off x="0" y="-47625"/>
              <a:ext cx="4911921" cy="2369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0" name="Google Shape;340;p39"/>
          <p:cNvSpPr txBox="1"/>
          <p:nvPr/>
        </p:nvSpPr>
        <p:spPr>
          <a:xfrm>
            <a:off x="1390942" y="628506"/>
            <a:ext cx="6362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rgbClr val="665653"/>
                </a:solidFill>
              </a:rPr>
              <a:t>기사 출처</a:t>
            </a:r>
            <a:endParaRPr sz="700"/>
          </a:p>
        </p:txBody>
      </p:sp>
      <p:sp>
        <p:nvSpPr>
          <p:cNvPr id="341" name="Google Shape;341;p39"/>
          <p:cNvSpPr txBox="1"/>
          <p:nvPr/>
        </p:nvSpPr>
        <p:spPr>
          <a:xfrm>
            <a:off x="1390942" y="1147191"/>
            <a:ext cx="6362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665653"/>
                </a:solidFill>
              </a:rPr>
              <a:t>이호정, 전한울, 이태웅 기자 </a:t>
            </a:r>
            <a:r>
              <a:rPr lang="ko" sz="1000">
                <a:solidFill>
                  <a:srgbClr val="665653"/>
                </a:solidFill>
              </a:rPr>
              <a:t> &lt;</a:t>
            </a:r>
            <a:r>
              <a:rPr b="1" lang="ko" sz="1000">
                <a:solidFill>
                  <a:srgbClr val="665653"/>
                </a:solidFill>
              </a:rPr>
              <a:t>배틀그라운드, 신규 맵 출시 후 동접 </a:t>
            </a:r>
            <a:r>
              <a:rPr b="1" lang="ko" sz="1000">
                <a:solidFill>
                  <a:srgbClr val="665653"/>
                </a:solidFill>
                <a:highlight>
                  <a:srgbClr val="F1F0EB"/>
                </a:highlight>
              </a:rPr>
              <a:t>62</a:t>
            </a:r>
            <a:r>
              <a:rPr b="1" lang="ko" sz="1000">
                <a:solidFill>
                  <a:srgbClr val="665653"/>
                </a:solidFill>
              </a:rPr>
              <a:t>만명 돌파 </a:t>
            </a:r>
            <a:r>
              <a:rPr b="1" lang="ko" sz="1000">
                <a:solidFill>
                  <a:srgbClr val="704F48"/>
                </a:solidFill>
                <a:highlight>
                  <a:srgbClr val="F1F0EB"/>
                </a:highlight>
              </a:rPr>
              <a:t>外</a:t>
            </a:r>
            <a:r>
              <a:rPr lang="ko" sz="1000">
                <a:solidFill>
                  <a:srgbClr val="665653"/>
                </a:solidFill>
              </a:rPr>
              <a:t>&gt;,</a:t>
            </a:r>
            <a:endParaRPr sz="1000">
              <a:solidFill>
                <a:srgbClr val="665653"/>
              </a:solidFill>
            </a:endParaRPr>
          </a:p>
          <a:p>
            <a:pPr indent="0" lvl="0" marL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ko" sz="1000">
                <a:solidFill>
                  <a:srgbClr val="665653"/>
                </a:solidFill>
              </a:rPr>
              <a:t> Dealsite, </a:t>
            </a:r>
            <a:r>
              <a:rPr lang="ko" sz="1000">
                <a:solidFill>
                  <a:schemeClr val="dk1"/>
                </a:solidFill>
              </a:rPr>
              <a:t>2023.12.14., </a:t>
            </a:r>
            <a:r>
              <a:rPr lang="ko" sz="1000" u="sng">
                <a:solidFill>
                  <a:schemeClr val="hlink"/>
                </a:solidFill>
                <a:hlinkClick r:id="rId3"/>
              </a:rPr>
              <a:t>https://dealsite.co.kr/articles/114750</a:t>
            </a:r>
            <a:endParaRPr sz="1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665653"/>
              </a:solidFill>
            </a:endParaRPr>
          </a:p>
        </p:txBody>
      </p:sp>
      <p:cxnSp>
        <p:nvCxnSpPr>
          <p:cNvPr id="342" name="Google Shape;342;p39"/>
          <p:cNvCxnSpPr/>
          <p:nvPr/>
        </p:nvCxnSpPr>
        <p:spPr>
          <a:xfrm>
            <a:off x="1390942" y="444897"/>
            <a:ext cx="6362116" cy="0"/>
          </a:xfrm>
          <a:prstGeom prst="straightConnector1">
            <a:avLst/>
          </a:prstGeom>
          <a:noFill/>
          <a:ln cap="flat" cmpd="sng" w="28575">
            <a:solidFill>
              <a:srgbClr val="AB969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