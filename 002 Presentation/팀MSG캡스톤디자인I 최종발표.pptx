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Nanum Myeongjo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font" Target="fonts/NanumMyeongj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ce7c6f6fa_1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3ce7c6f6fa_1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ce7c6f6fa_1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3ce7c6f6fa_11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ce7c6f6fa_1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3ce7c6f6fa_11_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ce7c6f6fa_1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3ce7c6f6fa_11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f7672c4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5f7672c45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7b5578f2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5e7b5578f2_1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e7b5578f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5e7b5578f2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5e7b5578f2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5e7b5578f2_1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5e7b5578f2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5e7b5578f2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f7672c45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5f7672c45f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5f7672c45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5f7672c45f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5f7672c45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5f7672c45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f7672c45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5f7672c45f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3ce7c6f6fa_1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3ce7c6f6fa_1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3ce7c6f6fa_1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3ce7c6f6fa_12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3ce7c6f6fa_1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3ce7c6f6fa_11_1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3ce7c6f6fa_1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3ce7c6f6fa_11_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606673c9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606673c93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606673c93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606673c93a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3ce7c6f6fa_11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3ce7c6f6fa_11_2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15" name="Google Shape;115;p19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16" name="Google Shape;116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22" name="Google Shape;122;p20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23" name="Google Shape;123;p20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24" name="Google Shape;124;p20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25" name="Google Shape;125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37" name="Google Shape;137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2" name="Google Shape;142;p23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44" name="Google Shape;144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Qnhaqtj3IbTO3_RqhAehXYSBYOBYP1My/view" TargetMode="External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sV56bvuEvpMZt5M_Wtz0-9-DzhNQeuFM/view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://drive.google.com/file/d/1rEev0OrYcxBSrOY-fAQRYMs2hAItV1it/view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drive.google.com/file/d/1GlacYnZ_ycSI8_XUlQWe3P0uMerXRHkx/view" TargetMode="External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545" l="-4259" r="-3486" t="-9912"/>
            </a:stretch>
          </a:blipFill>
          <a:ln>
            <a:noFill/>
          </a:ln>
        </p:spPr>
      </p:sp>
      <p:grpSp>
        <p:nvGrpSpPr>
          <p:cNvPr id="164" name="Google Shape;164;p26"/>
          <p:cNvGrpSpPr/>
          <p:nvPr/>
        </p:nvGrpSpPr>
        <p:grpSpPr>
          <a:xfrm>
            <a:off x="-4" y="-107418"/>
            <a:ext cx="9256450" cy="5358329"/>
            <a:chOff x="0" y="-47625"/>
            <a:chExt cx="4875922" cy="2822550"/>
          </a:xfrm>
        </p:grpSpPr>
        <p:sp>
          <p:nvSpPr>
            <p:cNvPr id="165" name="Google Shape;165;p26"/>
            <p:cNvSpPr/>
            <p:nvPr/>
          </p:nvSpPr>
          <p:spPr>
            <a:xfrm>
              <a:off x="0" y="0"/>
              <a:ext cx="4875922" cy="2774925"/>
            </a:xfrm>
            <a:custGeom>
              <a:rect b="b" l="l" r="r" t="t"/>
              <a:pathLst>
                <a:path extrusionOk="0" h="2774925" w="4875922">
                  <a:moveTo>
                    <a:pt x="0" y="0"/>
                  </a:moveTo>
                  <a:lnTo>
                    <a:pt x="4875922" y="0"/>
                  </a:lnTo>
                  <a:lnTo>
                    <a:pt x="4875922" y="2774925"/>
                  </a:lnTo>
                  <a:lnTo>
                    <a:pt x="0" y="2774925"/>
                  </a:lnTo>
                  <a:close/>
                </a:path>
              </a:pathLst>
            </a:custGeom>
            <a:solidFill>
              <a:srgbClr val="AB9E9C">
                <a:alpha val="29803"/>
              </a:srgbClr>
            </a:solidFill>
            <a:ln>
              <a:noFill/>
            </a:ln>
          </p:spPr>
        </p:sp>
        <p:sp>
          <p:nvSpPr>
            <p:cNvPr id="166" name="Google Shape;166;p26"/>
            <p:cNvSpPr txBox="1"/>
            <p:nvPr/>
          </p:nvSpPr>
          <p:spPr>
            <a:xfrm>
              <a:off x="0" y="-47625"/>
              <a:ext cx="4875922" cy="2822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7" name="Google Shape;167;p26"/>
          <p:cNvCxnSpPr/>
          <p:nvPr/>
        </p:nvCxnSpPr>
        <p:spPr>
          <a:xfrm>
            <a:off x="514350" y="4736467"/>
            <a:ext cx="8182828" cy="0"/>
          </a:xfrm>
          <a:prstGeom prst="straightConnector1">
            <a:avLst/>
          </a:prstGeom>
          <a:noFill/>
          <a:ln cap="flat" cmpd="sng" w="19050">
            <a:solidFill>
              <a:srgbClr val="6656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26"/>
          <p:cNvSpPr txBox="1"/>
          <p:nvPr/>
        </p:nvSpPr>
        <p:spPr>
          <a:xfrm>
            <a:off x="4691250" y="2011525"/>
            <a:ext cx="4452900" cy="15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5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캡스톤 디자인 </a:t>
            </a:r>
            <a:endParaRPr b="1" sz="4500">
              <a:solidFill>
                <a:srgbClr val="704F48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marR="0" rtl="0" algn="l">
              <a:lnSpc>
                <a:spcPct val="125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5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최종 발표</a:t>
            </a:r>
            <a:endParaRPr sz="4500"/>
          </a:p>
        </p:txBody>
      </p:sp>
      <p:sp>
        <p:nvSpPr>
          <p:cNvPr id="169" name="Google Shape;169;p26"/>
          <p:cNvSpPr txBox="1"/>
          <p:nvPr/>
        </p:nvSpPr>
        <p:spPr>
          <a:xfrm>
            <a:off x="2572083" y="4320970"/>
            <a:ext cx="612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704F48"/>
                </a:solidFill>
              </a:rPr>
              <a:t>팀 MSG</a:t>
            </a:r>
            <a:br>
              <a:rPr b="1" lang="ko" sz="1200">
                <a:solidFill>
                  <a:srgbClr val="704F48"/>
                </a:solidFill>
              </a:rPr>
            </a:br>
            <a:r>
              <a:rPr b="1" lang="ko" sz="1200">
                <a:solidFill>
                  <a:srgbClr val="704F48"/>
                </a:solidFill>
              </a:rPr>
              <a:t>      김지용, 조민기, 홍준용	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27"/>
          <p:cNvCxnSpPr/>
          <p:nvPr/>
        </p:nvCxnSpPr>
        <p:spPr>
          <a:xfrm>
            <a:off x="665700" y="2151814"/>
            <a:ext cx="79434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27"/>
          <p:cNvSpPr/>
          <p:nvPr/>
        </p:nvSpPr>
        <p:spPr>
          <a:xfrm>
            <a:off x="584738" y="2077996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2584860" y="2077996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4719251" y="2077996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6855651" y="2077996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7"/>
          <p:cNvCxnSpPr/>
          <p:nvPr/>
        </p:nvCxnSpPr>
        <p:spPr>
          <a:xfrm rot="5400000">
            <a:off x="248100" y="2576558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7"/>
          <p:cNvCxnSpPr/>
          <p:nvPr/>
        </p:nvCxnSpPr>
        <p:spPr>
          <a:xfrm rot="5400000">
            <a:off x="2248223" y="2576558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27"/>
          <p:cNvCxnSpPr/>
          <p:nvPr/>
        </p:nvCxnSpPr>
        <p:spPr>
          <a:xfrm rot="5400000">
            <a:off x="4382613" y="2576558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27"/>
          <p:cNvCxnSpPr/>
          <p:nvPr/>
        </p:nvCxnSpPr>
        <p:spPr>
          <a:xfrm rot="5400000">
            <a:off x="6519013" y="2576558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27"/>
          <p:cNvSpPr txBox="1"/>
          <p:nvPr/>
        </p:nvSpPr>
        <p:spPr>
          <a:xfrm>
            <a:off x="746663" y="2725117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프로젝트 목표</a:t>
            </a:r>
            <a:endParaRPr sz="700"/>
          </a:p>
        </p:txBody>
      </p:sp>
      <p:sp>
        <p:nvSpPr>
          <p:cNvPr id="184" name="Google Shape;184;p27"/>
          <p:cNvSpPr txBox="1"/>
          <p:nvPr/>
        </p:nvSpPr>
        <p:spPr>
          <a:xfrm>
            <a:off x="2746785" y="2725117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시스템 구성도</a:t>
            </a:r>
            <a:endParaRPr sz="700"/>
          </a:p>
        </p:txBody>
      </p:sp>
      <p:sp>
        <p:nvSpPr>
          <p:cNvPr id="185" name="Google Shape;185;p27"/>
          <p:cNvSpPr txBox="1"/>
          <p:nvPr/>
        </p:nvSpPr>
        <p:spPr>
          <a:xfrm>
            <a:off x="3046660" y="3233832"/>
            <a:ext cx="159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6" name="Google Shape;186;p27"/>
          <p:cNvSpPr txBox="1"/>
          <p:nvPr/>
        </p:nvSpPr>
        <p:spPr>
          <a:xfrm>
            <a:off x="4881176" y="2725117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주요 기능 </a:t>
            </a:r>
            <a:endParaRPr b="1" sz="1800">
              <a:solidFill>
                <a:srgbClr val="665653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5181050" y="3233832"/>
            <a:ext cx="159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8" name="Google Shape;188;p27"/>
          <p:cNvSpPr txBox="1"/>
          <p:nvPr/>
        </p:nvSpPr>
        <p:spPr>
          <a:xfrm>
            <a:off x="7017575" y="2725125"/>
            <a:ext cx="9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요구사항 </a:t>
            </a:r>
            <a:endParaRPr sz="700"/>
          </a:p>
        </p:txBody>
      </p:sp>
      <p:sp>
        <p:nvSpPr>
          <p:cNvPr id="189" name="Google Shape;189;p27"/>
          <p:cNvSpPr txBox="1"/>
          <p:nvPr/>
        </p:nvSpPr>
        <p:spPr>
          <a:xfrm>
            <a:off x="7317451" y="3233832"/>
            <a:ext cx="159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190" name="Google Shape;190;p27"/>
          <p:cNvGrpSpPr/>
          <p:nvPr/>
        </p:nvGrpSpPr>
        <p:grpSpPr>
          <a:xfrm>
            <a:off x="-180800" y="4715435"/>
            <a:ext cx="9324791" cy="449813"/>
            <a:chOff x="0" y="-47625"/>
            <a:chExt cx="4911921" cy="236943"/>
          </a:xfrm>
        </p:grpSpPr>
        <p:sp>
          <p:nvSpPr>
            <p:cNvPr id="191" name="Google Shape;191;p27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192" name="Google Shape;192;p27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27"/>
          <p:cNvSpPr txBox="1"/>
          <p:nvPr/>
        </p:nvSpPr>
        <p:spPr>
          <a:xfrm>
            <a:off x="333833" y="266700"/>
            <a:ext cx="3960870" cy="631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300" u="none" cap="none" strike="noStrike">
                <a:solidFill>
                  <a:srgbClr val="704F48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700"/>
          </a:p>
        </p:txBody>
      </p:sp>
      <p:cxnSp>
        <p:nvCxnSpPr>
          <p:cNvPr id="194" name="Google Shape;194;p27"/>
          <p:cNvCxnSpPr/>
          <p:nvPr/>
        </p:nvCxnSpPr>
        <p:spPr>
          <a:xfrm flipH="1" rot="10800000">
            <a:off x="915738" y="3412339"/>
            <a:ext cx="6252000" cy="300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27"/>
          <p:cNvSpPr/>
          <p:nvPr/>
        </p:nvSpPr>
        <p:spPr>
          <a:xfrm>
            <a:off x="834775" y="3341521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7"/>
          <p:cNvSpPr/>
          <p:nvPr/>
        </p:nvSpPr>
        <p:spPr>
          <a:xfrm>
            <a:off x="2834898" y="3341521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7"/>
          <p:cNvSpPr/>
          <p:nvPr/>
        </p:nvSpPr>
        <p:spPr>
          <a:xfrm>
            <a:off x="4969288" y="3341521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/>
          <p:nvPr/>
        </p:nvSpPr>
        <p:spPr>
          <a:xfrm>
            <a:off x="7105688" y="3341521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9" name="Google Shape;199;p27"/>
          <p:cNvCxnSpPr/>
          <p:nvPr/>
        </p:nvCxnSpPr>
        <p:spPr>
          <a:xfrm rot="5400000">
            <a:off x="2498260" y="3840083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27"/>
          <p:cNvCxnSpPr/>
          <p:nvPr/>
        </p:nvCxnSpPr>
        <p:spPr>
          <a:xfrm rot="5400000">
            <a:off x="4632651" y="3840083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27"/>
          <p:cNvCxnSpPr/>
          <p:nvPr/>
        </p:nvCxnSpPr>
        <p:spPr>
          <a:xfrm rot="5400000">
            <a:off x="6769051" y="3840083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27"/>
          <p:cNvSpPr txBox="1"/>
          <p:nvPr/>
        </p:nvSpPr>
        <p:spPr>
          <a:xfrm>
            <a:off x="993525" y="3648067"/>
            <a:ext cx="1591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알고리즘 및 설계 방법</a:t>
            </a:r>
            <a:endParaRPr sz="700"/>
          </a:p>
        </p:txBody>
      </p:sp>
      <p:sp>
        <p:nvSpPr>
          <p:cNvPr id="203" name="Google Shape;203;p27"/>
          <p:cNvSpPr txBox="1"/>
          <p:nvPr/>
        </p:nvSpPr>
        <p:spPr>
          <a:xfrm>
            <a:off x="2996823" y="3988642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팀원 역할 </a:t>
            </a:r>
            <a:endParaRPr sz="700"/>
          </a:p>
        </p:txBody>
      </p:sp>
      <p:sp>
        <p:nvSpPr>
          <p:cNvPr id="204" name="Google Shape;204;p27"/>
          <p:cNvSpPr txBox="1"/>
          <p:nvPr/>
        </p:nvSpPr>
        <p:spPr>
          <a:xfrm>
            <a:off x="2996823" y="4423808"/>
            <a:ext cx="159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05" name="Google Shape;205;p27"/>
          <p:cNvSpPr txBox="1"/>
          <p:nvPr/>
        </p:nvSpPr>
        <p:spPr>
          <a:xfrm>
            <a:off x="5131213" y="3988642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데모 시연</a:t>
            </a:r>
            <a:endParaRPr b="1" sz="1800">
              <a:solidFill>
                <a:srgbClr val="665653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5131213" y="4423808"/>
            <a:ext cx="159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07" name="Google Shape;207;p27"/>
          <p:cNvSpPr txBox="1"/>
          <p:nvPr/>
        </p:nvSpPr>
        <p:spPr>
          <a:xfrm>
            <a:off x="7267613" y="4423808"/>
            <a:ext cx="159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8"/>
          <p:cNvPicPr preferRelativeResize="0"/>
          <p:nvPr/>
        </p:nvPicPr>
        <p:blipFill rotWithShape="1">
          <a:blip r:embed="rId3">
            <a:alphaModFix/>
          </a:blip>
          <a:srcRect b="0" l="24193" r="24193" t="0"/>
          <a:stretch/>
        </p:blipFill>
        <p:spPr>
          <a:xfrm>
            <a:off x="4418270" y="-33337"/>
            <a:ext cx="4907804" cy="633917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 txBox="1"/>
          <p:nvPr/>
        </p:nvSpPr>
        <p:spPr>
          <a:xfrm>
            <a:off x="357646" y="3746700"/>
            <a:ext cx="258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65653"/>
              </a:solidFill>
            </a:endParaRPr>
          </a:p>
        </p:txBody>
      </p:sp>
      <p:cxnSp>
        <p:nvCxnSpPr>
          <p:cNvPr id="214" name="Google Shape;214;p28"/>
          <p:cNvCxnSpPr/>
          <p:nvPr/>
        </p:nvCxnSpPr>
        <p:spPr>
          <a:xfrm>
            <a:off x="357646" y="3706219"/>
            <a:ext cx="19296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5" name="Google Shape;215;p28"/>
          <p:cNvGrpSpPr/>
          <p:nvPr/>
        </p:nvGrpSpPr>
        <p:grpSpPr>
          <a:xfrm>
            <a:off x="-90487" y="4873383"/>
            <a:ext cx="9324975" cy="449821"/>
            <a:chOff x="0" y="-47625"/>
            <a:chExt cx="4911921" cy="236943"/>
          </a:xfrm>
        </p:grpSpPr>
        <p:sp>
          <p:nvSpPr>
            <p:cNvPr id="216" name="Google Shape;216;p28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17" name="Google Shape;217;p28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28"/>
          <p:cNvSpPr txBox="1"/>
          <p:nvPr/>
        </p:nvSpPr>
        <p:spPr>
          <a:xfrm>
            <a:off x="333833" y="266700"/>
            <a:ext cx="39609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200">
                <a:solidFill>
                  <a:srgbClr val="704F48"/>
                </a:solidFill>
              </a:rPr>
              <a:t>프로젝트 목표</a:t>
            </a:r>
            <a:endParaRPr sz="700"/>
          </a:p>
        </p:txBody>
      </p:sp>
      <p:sp>
        <p:nvSpPr>
          <p:cNvPr id="219" name="Google Shape;219;p28"/>
          <p:cNvSpPr txBox="1"/>
          <p:nvPr/>
        </p:nvSpPr>
        <p:spPr>
          <a:xfrm>
            <a:off x="357652" y="966675"/>
            <a:ext cx="3960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665653"/>
                </a:solidFill>
              </a:rPr>
              <a:t>실시간 멀티플레이 환경에서의 무작위 맵 생성 기반 전략 TPS게임 개발</a:t>
            </a:r>
            <a:endParaRPr b="1"/>
          </a:p>
        </p:txBody>
      </p:sp>
      <p:sp>
        <p:nvSpPr>
          <p:cNvPr id="220" name="Google Shape;220;p28"/>
          <p:cNvSpPr txBox="1"/>
          <p:nvPr/>
        </p:nvSpPr>
        <p:spPr>
          <a:xfrm>
            <a:off x="333825" y="3808450"/>
            <a:ext cx="42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>
                <a:solidFill>
                  <a:srgbClr val="665653"/>
                </a:solidFill>
              </a:rPr>
              <a:t>학기 목표- 싱글 플레이 기반의 게임 시스템 설계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/>
        </p:nvSpPr>
        <p:spPr>
          <a:xfrm>
            <a:off x="357649" y="327350"/>
            <a:ext cx="745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전체 시스템 구성도</a:t>
            </a:r>
            <a:endParaRPr sz="700"/>
          </a:p>
        </p:txBody>
      </p:sp>
      <p:cxnSp>
        <p:nvCxnSpPr>
          <p:cNvPr id="226" name="Google Shape;226;p29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7" name="Google Shape;227;p29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228" name="Google Shape;228;p29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29" name="Google Shape;229;p29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0" name="Google Shape;23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50" y="1149000"/>
            <a:ext cx="4364374" cy="3606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/>
          <p:nvPr/>
        </p:nvSpPr>
        <p:spPr>
          <a:xfrm>
            <a:off x="5159150" y="294575"/>
            <a:ext cx="3706200" cy="4578900"/>
          </a:xfrm>
          <a:prstGeom prst="roundRect">
            <a:avLst>
              <a:gd fmla="val 16667" name="adj"/>
            </a:avLst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5515625" y="486950"/>
            <a:ext cx="2959500" cy="43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TPS 시스템 - 시네머신을 이용한 TPS 구현 및 장애물 투명화 기능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캐릭터 동작 시스템 - Input System을 이용한 캐릭터 움직임 기능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Save/Load 시스템 - 사용자 설정값(키 리바인드 ID 값, 마우스 감도 등)을 Json 파일에 저장 및 불러오기 기능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UI/UX 시스템 - 게임 UI 상호작용 기능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게임 매니저 - </a:t>
            </a: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캐릭터 상태 및 </a:t>
            </a: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게임 흐름 관리 기능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JSON 데이터 - </a:t>
            </a: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Save/Load 시스템이 사용하는 실질적인 데이터 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/>
          <p:nvPr/>
        </p:nvSpPr>
        <p:spPr>
          <a:xfrm>
            <a:off x="357652" y="327350"/>
            <a:ext cx="5401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시스템 구성도  -UI </a:t>
            </a: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구조도</a:t>
            </a:r>
            <a:endParaRPr sz="700"/>
          </a:p>
        </p:txBody>
      </p:sp>
      <p:cxnSp>
        <p:nvCxnSpPr>
          <p:cNvPr id="238" name="Google Shape;238;p30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9" name="Google Shape;239;p30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240" name="Google Shape;240;p30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41" name="Google Shape;241;p30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2" name="Google Shape;242;p30" title="캡스톤디자인_UI구조도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125" y="988575"/>
            <a:ext cx="3821864" cy="368713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/>
        </p:nvSpPr>
        <p:spPr>
          <a:xfrm>
            <a:off x="4757400" y="1030175"/>
            <a:ext cx="39438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씬 이동 : 로비 -&gt; 인게임 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패널 매니저로 여러 패널 관리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향후 게임 시작 버튼에 포톤 클라우드 연결 기능 추가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/>
          <p:nvPr/>
        </p:nvSpPr>
        <p:spPr>
          <a:xfrm>
            <a:off x="357650" y="327350"/>
            <a:ext cx="687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TPS 캐릭터 조작</a:t>
            </a: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  - </a:t>
            </a: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유스케이스</a:t>
            </a:r>
            <a:endParaRPr sz="700"/>
          </a:p>
        </p:txBody>
      </p:sp>
      <p:cxnSp>
        <p:nvCxnSpPr>
          <p:cNvPr id="249" name="Google Shape;249;p31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p31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251" name="Google Shape;251;p31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52" name="Google Shape;252;p31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31"/>
          <p:cNvSpPr txBox="1"/>
          <p:nvPr/>
        </p:nvSpPr>
        <p:spPr>
          <a:xfrm>
            <a:off x="5624975" y="1202325"/>
            <a:ext cx="26985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게임 내에서 사용자가 조작할 수 있는 이동 및 시야 전환, 스킬, 사격, 게임 키 설정 등을 유스케이스를 통해 표현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975" y="1033850"/>
            <a:ext cx="4592200" cy="368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/>
        </p:nvSpPr>
        <p:spPr>
          <a:xfrm>
            <a:off x="357650" y="327350"/>
            <a:ext cx="589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이동 입출력</a:t>
            </a:r>
            <a:endParaRPr sz="700"/>
          </a:p>
        </p:txBody>
      </p:sp>
      <p:cxnSp>
        <p:nvCxnSpPr>
          <p:cNvPr id="260" name="Google Shape;260;p32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1" name="Google Shape;261;p32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262" name="Google Shape;262;p32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63" name="Google Shape;263;p32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4" name="Google Shape;264;p32"/>
          <p:cNvSpPr txBox="1"/>
          <p:nvPr/>
        </p:nvSpPr>
        <p:spPr>
          <a:xfrm>
            <a:off x="5956625" y="1530000"/>
            <a:ext cx="2754300" cy="24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유스케이스에서 캐릭터의 이동 작업을 나타낸 시퀀스 다이어그램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-사용자 -&gt; 서버 -&gt; 사용자 순으로 데이터가 전송되며 동기화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-시야는 공유하지 않기 때문에 동기화 작업을 할 필요가 없음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75" y="1364525"/>
            <a:ext cx="5274913" cy="2651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/>
        </p:nvSpPr>
        <p:spPr>
          <a:xfrm>
            <a:off x="357650" y="327350"/>
            <a:ext cx="589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사격 입출력</a:t>
            </a:r>
            <a:endParaRPr sz="700"/>
          </a:p>
        </p:txBody>
      </p:sp>
      <p:cxnSp>
        <p:nvCxnSpPr>
          <p:cNvPr id="271" name="Google Shape;271;p33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2" name="Google Shape;272;p33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273" name="Google Shape;273;p33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74" name="Google Shape;274;p33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" name="Google Shape;275;p33"/>
          <p:cNvSpPr txBox="1"/>
          <p:nvPr/>
        </p:nvSpPr>
        <p:spPr>
          <a:xfrm>
            <a:off x="6402625" y="1322075"/>
            <a:ext cx="26034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유스케이스에서 캐릭터 사격 작업을 나타낸 시퀀스 다이어그램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-사용자 -&gt; 서버 -&gt; 사용자 순으로 데이터가 전송되며 동기화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 사격은 적을 맞출 경우, 무조건 플레이어의 체력을 닳게하므로, 체력 관리 시스템을 거침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13" y="1455903"/>
            <a:ext cx="5612275" cy="281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/>
        </p:nvSpPr>
        <p:spPr>
          <a:xfrm>
            <a:off x="357650" y="327350"/>
            <a:ext cx="589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스킬 입출력</a:t>
            </a: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 </a:t>
            </a:r>
            <a:endParaRPr sz="700"/>
          </a:p>
        </p:txBody>
      </p:sp>
      <p:cxnSp>
        <p:nvCxnSpPr>
          <p:cNvPr id="282" name="Google Shape;282;p34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3" name="Google Shape;283;p34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284" name="Google Shape;284;p34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85" name="Google Shape;285;p34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34"/>
          <p:cNvSpPr txBox="1"/>
          <p:nvPr/>
        </p:nvSpPr>
        <p:spPr>
          <a:xfrm>
            <a:off x="6572050" y="834550"/>
            <a:ext cx="2338500" cy="4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유스케이스에서 캐릭터 스킬 작업을 나타낸 시퀀스 다이어그램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-사용자 -&gt; 서버 -&gt; 사용자 순으로 데이터가 전송되며 동기화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-스킬 사용에 따른 UI의 변경 또한 고려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-스킬은 체력에 관여하지 않을 경우가 있기 때문에 체력 관리 시스템 생략(관여할 경우 사격 입출력과 동일하게 작동)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25" y="1369350"/>
            <a:ext cx="6057850" cy="307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/>
        </p:nvSpPr>
        <p:spPr>
          <a:xfrm>
            <a:off x="357651" y="327350"/>
            <a:ext cx="46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주요 기능</a:t>
            </a:r>
            <a:endParaRPr sz="700"/>
          </a:p>
        </p:txBody>
      </p:sp>
      <p:cxnSp>
        <p:nvCxnSpPr>
          <p:cNvPr id="293" name="Google Shape;293;p35"/>
          <p:cNvCxnSpPr/>
          <p:nvPr/>
        </p:nvCxnSpPr>
        <p:spPr>
          <a:xfrm rot="5400000">
            <a:off x="-686360" y="2681065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4" name="Google Shape;294;p35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295" name="Google Shape;295;p35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96" name="Google Shape;296;p35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7" name="Google Shape;297;p35"/>
          <p:cNvSpPr txBox="1"/>
          <p:nvPr/>
        </p:nvSpPr>
        <p:spPr>
          <a:xfrm>
            <a:off x="462650" y="1637075"/>
            <a:ext cx="156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기본 UI/UX 구현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35"/>
          <p:cNvCxnSpPr>
            <a:stCxn id="297" idx="3"/>
          </p:cNvCxnSpPr>
          <p:nvPr/>
        </p:nvCxnSpPr>
        <p:spPr>
          <a:xfrm>
            <a:off x="2024450" y="1842875"/>
            <a:ext cx="1403100" cy="1200"/>
          </a:xfrm>
          <a:prstGeom prst="straightConnector1">
            <a:avLst/>
          </a:prstGeom>
          <a:noFill/>
          <a:ln cap="flat" cmpd="sng" w="9525">
            <a:solidFill>
              <a:srgbClr val="704F4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35"/>
          <p:cNvSpPr txBox="1"/>
          <p:nvPr/>
        </p:nvSpPr>
        <p:spPr>
          <a:xfrm>
            <a:off x="462650" y="2089375"/>
            <a:ext cx="156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캐릭터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 구현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3631375" y="924075"/>
            <a:ext cx="5449200" cy="3659400"/>
          </a:xfrm>
          <a:prstGeom prst="rect">
            <a:avLst/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5"/>
          <p:cNvSpPr txBox="1"/>
          <p:nvPr/>
        </p:nvSpPr>
        <p:spPr>
          <a:xfrm>
            <a:off x="3687950" y="1573375"/>
            <a:ext cx="3966600" cy="29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1550" y="1047137"/>
            <a:ext cx="2946938" cy="1638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4513" y="2794051"/>
            <a:ext cx="2981025" cy="17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5"/>
          <p:cNvSpPr txBox="1"/>
          <p:nvPr/>
        </p:nvSpPr>
        <p:spPr>
          <a:xfrm>
            <a:off x="6834050" y="1088150"/>
            <a:ext cx="2206800" cy="3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Json 파일에 InputAction의 ID 값, 마우스 감도, 소리 볼륨 값 저장 -&gt; 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불러오기 기능</a:t>
            </a:r>
            <a:b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ko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씬 전환 시 캐릭터 선택 스크립트 실행.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각 버튼에 캐릭터 프리팹 할당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 txBox="1"/>
          <p:nvPr/>
        </p:nvSpPr>
        <p:spPr>
          <a:xfrm>
            <a:off x="357651" y="327350"/>
            <a:ext cx="462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주요 기능 </a:t>
            </a:r>
            <a:endParaRPr sz="700"/>
          </a:p>
        </p:txBody>
      </p:sp>
      <p:cxnSp>
        <p:nvCxnSpPr>
          <p:cNvPr id="310" name="Google Shape;310;p36"/>
          <p:cNvCxnSpPr/>
          <p:nvPr/>
        </p:nvCxnSpPr>
        <p:spPr>
          <a:xfrm rot="5400000">
            <a:off x="-686360" y="2681065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1" name="Google Shape;311;p36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312" name="Google Shape;312;p36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13" name="Google Shape;313;p36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p36"/>
          <p:cNvSpPr txBox="1"/>
          <p:nvPr/>
        </p:nvSpPr>
        <p:spPr>
          <a:xfrm>
            <a:off x="462650" y="1637075"/>
            <a:ext cx="156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기본 UI/UX 구현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6"/>
          <p:cNvSpPr txBox="1"/>
          <p:nvPr/>
        </p:nvSpPr>
        <p:spPr>
          <a:xfrm>
            <a:off x="462650" y="2089375"/>
            <a:ext cx="156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캐릭터 구현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36"/>
          <p:cNvCxnSpPr>
            <a:stCxn id="315" idx="3"/>
          </p:cNvCxnSpPr>
          <p:nvPr/>
        </p:nvCxnSpPr>
        <p:spPr>
          <a:xfrm>
            <a:off x="2024450" y="2295175"/>
            <a:ext cx="1346700" cy="2400"/>
          </a:xfrm>
          <a:prstGeom prst="straightConnector1">
            <a:avLst/>
          </a:prstGeom>
          <a:noFill/>
          <a:ln cap="flat" cmpd="sng" w="9525">
            <a:solidFill>
              <a:srgbClr val="704F4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7" name="Google Shape;317;p36"/>
          <p:cNvSpPr/>
          <p:nvPr/>
        </p:nvSpPr>
        <p:spPr>
          <a:xfrm>
            <a:off x="3574775" y="1008950"/>
            <a:ext cx="5449200" cy="3659400"/>
          </a:xfrm>
          <a:prstGeom prst="rect">
            <a:avLst/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5763" y="1193488"/>
            <a:ext cx="1346700" cy="1298778"/>
          </a:xfrm>
          <a:prstGeom prst="rect">
            <a:avLst/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9" name="Google Shape;31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4400" y="1198425"/>
            <a:ext cx="1420775" cy="128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14400" y="3081412"/>
            <a:ext cx="1420775" cy="1391045"/>
          </a:xfrm>
          <a:prstGeom prst="rect">
            <a:avLst/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1" name="Google Shape;32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5763" y="3052687"/>
            <a:ext cx="1346700" cy="1448485"/>
          </a:xfrm>
          <a:prstGeom prst="rect">
            <a:avLst/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2" name="Google Shape;322;p36"/>
          <p:cNvSpPr/>
          <p:nvPr/>
        </p:nvSpPr>
        <p:spPr>
          <a:xfrm>
            <a:off x="615425" y="3084050"/>
            <a:ext cx="2552100" cy="1584300"/>
          </a:xfrm>
          <a:prstGeom prst="roundRect">
            <a:avLst>
              <a:gd fmla="val 16667" name="adj"/>
            </a:avLst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공통 구현 사항</a:t>
            </a:r>
            <a:endParaRPr b="1"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총기 및 사격 기능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체력 및 사망 기능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이동 기능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6"/>
          <p:cNvSpPr/>
          <p:nvPr/>
        </p:nvSpPr>
        <p:spPr>
          <a:xfrm>
            <a:off x="5079925" y="1085675"/>
            <a:ext cx="1163100" cy="1514400"/>
          </a:xfrm>
          <a:prstGeom prst="roundRect">
            <a:avLst>
              <a:gd fmla="val 16667" name="adj"/>
            </a:avLst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-AR 총기</a:t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-스킬</a:t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1. 세열 수류탄</a:t>
            </a:r>
            <a:endParaRPr sz="11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2. 신체 강화</a:t>
            </a:r>
            <a:endParaRPr sz="11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6"/>
          <p:cNvSpPr/>
          <p:nvPr/>
        </p:nvSpPr>
        <p:spPr>
          <a:xfrm>
            <a:off x="5089113" y="3019738"/>
            <a:ext cx="1163100" cy="1514400"/>
          </a:xfrm>
          <a:prstGeom prst="roundRect">
            <a:avLst>
              <a:gd fmla="val 16667" name="adj"/>
            </a:avLst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-SG 총기</a:t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-스킬</a:t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섬광탄</a:t>
            </a:r>
            <a:endParaRPr sz="11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2. 엄폐물 생성</a:t>
            </a:r>
            <a:endParaRPr sz="11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6"/>
          <p:cNvSpPr/>
          <p:nvPr/>
        </p:nvSpPr>
        <p:spPr>
          <a:xfrm>
            <a:off x="7795200" y="1085675"/>
            <a:ext cx="1163100" cy="1514400"/>
          </a:xfrm>
          <a:prstGeom prst="roundRect">
            <a:avLst>
              <a:gd fmla="val 16667" name="adj"/>
            </a:avLst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-SMG 총기</a:t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-스킬</a:t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1. 연막탄</a:t>
            </a:r>
            <a:endParaRPr sz="11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2. 발소리 감소</a:t>
            </a:r>
            <a:endParaRPr sz="11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6"/>
          <p:cNvSpPr/>
          <p:nvPr/>
        </p:nvSpPr>
        <p:spPr>
          <a:xfrm>
            <a:off x="7795200" y="3019725"/>
            <a:ext cx="1163100" cy="1514400"/>
          </a:xfrm>
          <a:prstGeom prst="roundRect">
            <a:avLst>
              <a:gd fmla="val 16667" name="adj"/>
            </a:avLst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-SMG 총기</a:t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-스킬</a:t>
            </a:r>
            <a:endParaRPr sz="12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회복</a:t>
            </a:r>
            <a:endParaRPr sz="11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2. 적 위치 확인</a:t>
            </a:r>
            <a:endParaRPr sz="11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7"/>
          <p:cNvSpPr txBox="1"/>
          <p:nvPr/>
        </p:nvSpPr>
        <p:spPr>
          <a:xfrm>
            <a:off x="326578" y="306625"/>
            <a:ext cx="65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성능 요구사항</a:t>
            </a:r>
            <a:endParaRPr sz="700"/>
          </a:p>
        </p:txBody>
      </p:sp>
      <p:cxnSp>
        <p:nvCxnSpPr>
          <p:cNvPr id="332" name="Google Shape;332;p37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3" name="Google Shape;333;p37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334" name="Google Shape;334;p37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35" name="Google Shape;335;p37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37"/>
          <p:cNvSpPr txBox="1"/>
          <p:nvPr/>
        </p:nvSpPr>
        <p:spPr>
          <a:xfrm>
            <a:off x="5057300" y="1239550"/>
            <a:ext cx="38589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------------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성능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 요구사항------------</a:t>
            </a:r>
            <a:b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멀티 플레이 환경 - 캡스톤디자인2 때 구현할 예정으로 세션 사용자 처리 속도 요구사항 확인 불가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450" y="1692749"/>
            <a:ext cx="4042400" cy="96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/>
        </p:nvSpPr>
        <p:spPr>
          <a:xfrm>
            <a:off x="326578" y="306625"/>
            <a:ext cx="65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품질 요구사항</a:t>
            </a:r>
            <a:endParaRPr sz="700"/>
          </a:p>
        </p:txBody>
      </p:sp>
      <p:cxnSp>
        <p:nvCxnSpPr>
          <p:cNvPr id="343" name="Google Shape;343;p38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4" name="Google Shape;344;p38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345" name="Google Shape;345;p38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46" name="Google Shape;346;p38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38"/>
          <p:cNvSpPr txBox="1"/>
          <p:nvPr/>
        </p:nvSpPr>
        <p:spPr>
          <a:xfrm>
            <a:off x="5057300" y="1239550"/>
            <a:ext cx="38589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------------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품질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 요구사항------------</a:t>
            </a:r>
            <a:b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450" y="1692759"/>
            <a:ext cx="4042400" cy="686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4050" y="1692750"/>
            <a:ext cx="2615413" cy="218926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8"/>
          <p:cNvSpPr txBox="1"/>
          <p:nvPr/>
        </p:nvSpPr>
        <p:spPr>
          <a:xfrm>
            <a:off x="694650" y="2648475"/>
            <a:ext cx="44136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컴포넌트 연결, 데이터 로드 등 코드 취약점에 직접 오류 검출용 로그 생</a:t>
            </a:r>
            <a:r>
              <a:rPr lang="ko" sz="15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성</a:t>
            </a:r>
            <a:r>
              <a:rPr lang="ko" sz="15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 코드를 작성하여 콘솔창에서 오류 발생률 체크</a:t>
            </a:r>
            <a:endParaRPr sz="15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-&gt; 캐릭터 선택 전, 캐릭터 프리팹이 만들어지지 않아 오류 발생. 이는 캐릭터 생성 후 발생하지 않음. 그 외 오류가 검출되지 않음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60분당 평균 100초가량 오류 발생 -&gt; 오류 발생률: 0.03%  </a:t>
            </a:r>
            <a:endParaRPr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"/>
          <p:cNvSpPr txBox="1"/>
          <p:nvPr/>
        </p:nvSpPr>
        <p:spPr>
          <a:xfrm>
            <a:off x="326578" y="306625"/>
            <a:ext cx="65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제약 요구사항</a:t>
            </a:r>
            <a:endParaRPr sz="700"/>
          </a:p>
        </p:txBody>
      </p:sp>
      <p:cxnSp>
        <p:nvCxnSpPr>
          <p:cNvPr id="356" name="Google Shape;356;p39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7" name="Google Shape;357;p39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358" name="Google Shape;358;p39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59" name="Google Shape;359;p39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0" name="Google Shape;360;p39"/>
          <p:cNvSpPr txBox="1"/>
          <p:nvPr/>
        </p:nvSpPr>
        <p:spPr>
          <a:xfrm>
            <a:off x="5057300" y="1239550"/>
            <a:ext cx="3858900" cy="17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------------제약 요구사항</a:t>
            </a: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------------</a:t>
            </a:r>
            <a:b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유니티 엔진 버전 - 2022.3.53f1 버전으로   개발 중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704F48"/>
                </a:solidFill>
                <a:latin typeface="Calibri"/>
                <a:ea typeface="Calibri"/>
                <a:cs typeface="Calibri"/>
                <a:sym typeface="Calibri"/>
              </a:rPr>
              <a:t>포톤2 무료 플랜- 20명까지 서버 참여 가능. 게임 참여 인원 4인 고려로 문제 X </a:t>
            </a:r>
            <a:endParaRPr sz="1600">
              <a:solidFill>
                <a:srgbClr val="704F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4900" y="1188625"/>
            <a:ext cx="4042411" cy="15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40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367" name="Google Shape;367;p40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68" name="Google Shape;368;p40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9" name="Google Shape;369;p40"/>
          <p:cNvSpPr txBox="1"/>
          <p:nvPr/>
        </p:nvSpPr>
        <p:spPr>
          <a:xfrm>
            <a:off x="357651" y="327350"/>
            <a:ext cx="786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알고리즘 및 설계 방법 </a:t>
            </a: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-수정필요</a:t>
            </a:r>
            <a:endParaRPr sz="700"/>
          </a:p>
        </p:txBody>
      </p:sp>
      <p:pic>
        <p:nvPicPr>
          <p:cNvPr id="370" name="Google Shape;37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25" y="884284"/>
            <a:ext cx="4085474" cy="79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25" y="2938425"/>
            <a:ext cx="3586653" cy="7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0"/>
          <p:cNvSpPr/>
          <p:nvPr/>
        </p:nvSpPr>
        <p:spPr>
          <a:xfrm>
            <a:off x="217713" y="3736075"/>
            <a:ext cx="8708400" cy="1137300"/>
          </a:xfrm>
          <a:prstGeom prst="roundRect">
            <a:avLst>
              <a:gd fmla="val 16667" name="adj"/>
            </a:avLst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704F4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704F48"/>
                </a:solidFill>
              </a:rPr>
              <a:t>유니티 자체 패키지인 시네머신을 이용하여 TPS 시야 구현. Input System에서 받은 마우스 Y축 변화량에 따라 메인 카메라에 연결된 시네머신 카메라의 Y 값 변경.</a:t>
            </a:r>
            <a:endParaRPr sz="900">
              <a:solidFill>
                <a:srgbClr val="704F4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704F48"/>
                </a:solidFill>
              </a:rPr>
              <a:t>지붕 투명화 구현 - 플레이어 기준 위쪽 방향으로 RayCast를 쏘아 Roof 장애물일 시 투명화</a:t>
            </a:r>
            <a:endParaRPr sz="900">
              <a:solidFill>
                <a:srgbClr val="704F4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704F48"/>
                </a:solidFill>
              </a:rPr>
              <a:t>장애물 반투명화 구현 - 카메라에서 플레이어 방향 쪽으로 RayCast를 쏘아 일반 장애물 일 시 반투명화</a:t>
            </a:r>
            <a:endParaRPr sz="900">
              <a:solidFill>
                <a:srgbClr val="704F48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0"/>
          <p:cNvSpPr/>
          <p:nvPr/>
        </p:nvSpPr>
        <p:spPr>
          <a:xfrm>
            <a:off x="144000" y="1684750"/>
            <a:ext cx="8708400" cy="1168800"/>
          </a:xfrm>
          <a:prstGeom prst="roundRect">
            <a:avLst>
              <a:gd fmla="val 16667" name="adj"/>
            </a:avLst>
          </a:prstGeom>
          <a:solidFill>
            <a:srgbClr val="F1F0EB"/>
          </a:solidFill>
          <a:ln cap="flat" cmpd="sng" w="9525">
            <a:solidFill>
              <a:srgbClr val="704F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704F48"/>
                </a:solidFill>
              </a:rPr>
              <a:t>캐릭터 스킬은 Skill.cs 스크립트는 스킬의 종류가 많기 때문에 ’팩토리 메서드 패턴‘을 참고함. 생성자와 스킬들의 기본이 되는 Count, CoolDown 등의 중복 요소가 Skill.cs에 포함, 유니티 씬 내에서 각 스킬들을 컴포넌트로써 각 인스턴스를 생성.</a:t>
            </a:r>
            <a:endParaRPr sz="900">
              <a:solidFill>
                <a:srgbClr val="704F4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900">
                <a:solidFill>
                  <a:srgbClr val="704F48"/>
                </a:solidFill>
              </a:rPr>
              <a:t> 간단한 조작으로 스킬을 쉽게 사용할 수 있도록 하였고, 각 스킬들의 결합도는 낮으며, 응집도는 높이도록 만듦</a:t>
            </a:r>
            <a:endParaRPr sz="900">
              <a:solidFill>
                <a:srgbClr val="704F4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900">
                <a:solidFill>
                  <a:srgbClr val="704F48"/>
                </a:solidFill>
              </a:rPr>
              <a:t>-&gt; 수용성, 의존성을 포함한 좋은 소프트웨어 조건들 고려.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" name="Google Shape;378;p41"/>
          <p:cNvGrpSpPr/>
          <p:nvPr/>
        </p:nvGrpSpPr>
        <p:grpSpPr>
          <a:xfrm>
            <a:off x="-90487" y="4949585"/>
            <a:ext cx="9324791" cy="449813"/>
            <a:chOff x="0" y="-47625"/>
            <a:chExt cx="4911921" cy="236943"/>
          </a:xfrm>
        </p:grpSpPr>
        <p:sp>
          <p:nvSpPr>
            <p:cNvPr id="379" name="Google Shape;379;p41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80" name="Google Shape;380;p41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41"/>
          <p:cNvSpPr txBox="1"/>
          <p:nvPr/>
        </p:nvSpPr>
        <p:spPr>
          <a:xfrm>
            <a:off x="357647" y="327350"/>
            <a:ext cx="206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팀원 역할</a:t>
            </a:r>
            <a:endParaRPr sz="700"/>
          </a:p>
        </p:txBody>
      </p:sp>
      <p:cxnSp>
        <p:nvCxnSpPr>
          <p:cNvPr id="382" name="Google Shape;382;p41"/>
          <p:cNvCxnSpPr/>
          <p:nvPr/>
        </p:nvCxnSpPr>
        <p:spPr>
          <a:xfrm>
            <a:off x="643103" y="3888718"/>
            <a:ext cx="1949201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41"/>
          <p:cNvCxnSpPr/>
          <p:nvPr/>
        </p:nvCxnSpPr>
        <p:spPr>
          <a:xfrm>
            <a:off x="3597399" y="3888718"/>
            <a:ext cx="1949201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41"/>
          <p:cNvCxnSpPr/>
          <p:nvPr/>
        </p:nvCxnSpPr>
        <p:spPr>
          <a:xfrm>
            <a:off x="6556644" y="3888718"/>
            <a:ext cx="1949201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41"/>
          <p:cNvSpPr txBox="1"/>
          <p:nvPr/>
        </p:nvSpPr>
        <p:spPr>
          <a:xfrm>
            <a:off x="519298" y="3507880"/>
            <a:ext cx="21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665653"/>
                </a:solidFill>
              </a:rPr>
              <a:t>김지용 </a:t>
            </a:r>
            <a:endParaRPr sz="700"/>
          </a:p>
        </p:txBody>
      </p:sp>
      <p:sp>
        <p:nvSpPr>
          <p:cNvPr id="386" name="Google Shape;386;p41"/>
          <p:cNvSpPr txBox="1"/>
          <p:nvPr/>
        </p:nvSpPr>
        <p:spPr>
          <a:xfrm>
            <a:off x="3473594" y="3507880"/>
            <a:ext cx="21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665653"/>
                </a:solidFill>
              </a:rPr>
              <a:t>조민기</a:t>
            </a:r>
            <a:endParaRPr sz="700"/>
          </a:p>
        </p:txBody>
      </p:sp>
      <p:sp>
        <p:nvSpPr>
          <p:cNvPr id="387" name="Google Shape;387;p41"/>
          <p:cNvSpPr txBox="1"/>
          <p:nvPr/>
        </p:nvSpPr>
        <p:spPr>
          <a:xfrm>
            <a:off x="6432838" y="3507880"/>
            <a:ext cx="21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665653"/>
                </a:solidFill>
              </a:rPr>
              <a:t>홍준용</a:t>
            </a:r>
            <a:endParaRPr sz="700"/>
          </a:p>
        </p:txBody>
      </p:sp>
      <p:sp>
        <p:nvSpPr>
          <p:cNvPr id="388" name="Google Shape;388;p41"/>
          <p:cNvSpPr txBox="1"/>
          <p:nvPr/>
        </p:nvSpPr>
        <p:spPr>
          <a:xfrm>
            <a:off x="519298" y="4017305"/>
            <a:ext cx="21969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카메라 컨트롤, 플레이어 움직임, </a:t>
            </a:r>
            <a:br>
              <a:rPr lang="ko" sz="1200">
                <a:solidFill>
                  <a:srgbClr val="665653"/>
                </a:solidFill>
              </a:rPr>
            </a:br>
            <a:r>
              <a:rPr lang="ko" sz="1200">
                <a:solidFill>
                  <a:srgbClr val="665653"/>
                </a:solidFill>
              </a:rPr>
              <a:t>로비 및 기타 UI 구현</a:t>
            </a:r>
            <a:endParaRPr sz="1200">
              <a:solidFill>
                <a:srgbClr val="665653"/>
              </a:solidFill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3473594" y="4017305"/>
            <a:ext cx="21969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총기,플레이어 스킬, 체력 시스템 등 구현, Git 관리</a:t>
            </a:r>
            <a:endParaRPr sz="1200">
              <a:solidFill>
                <a:srgbClr val="665653"/>
              </a:solidFill>
            </a:endParaRPr>
          </a:p>
        </p:txBody>
      </p:sp>
      <p:sp>
        <p:nvSpPr>
          <p:cNvPr id="390" name="Google Shape;390;p41"/>
          <p:cNvSpPr txBox="1"/>
          <p:nvPr/>
        </p:nvSpPr>
        <p:spPr>
          <a:xfrm>
            <a:off x="6432838" y="4017305"/>
            <a:ext cx="21969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플레이어 애니메이션 구현</a:t>
            </a:r>
            <a:br>
              <a:rPr lang="ko" sz="1200">
                <a:solidFill>
                  <a:srgbClr val="665653"/>
                </a:solidFill>
              </a:rPr>
            </a:br>
            <a:r>
              <a:rPr lang="ko" sz="1200">
                <a:solidFill>
                  <a:srgbClr val="665653"/>
                </a:solidFill>
              </a:rPr>
              <a:t>및 동기화, 맵 디자인</a:t>
            </a:r>
            <a:endParaRPr sz="700"/>
          </a:p>
        </p:txBody>
      </p:sp>
      <p:pic>
        <p:nvPicPr>
          <p:cNvPr id="391" name="Google Shape;39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826" y="2076450"/>
            <a:ext cx="1685750" cy="125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8438" y="2076439"/>
            <a:ext cx="1405711" cy="1405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1949" y="2334349"/>
            <a:ext cx="2359925" cy="9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42"/>
          <p:cNvGrpSpPr/>
          <p:nvPr/>
        </p:nvGrpSpPr>
        <p:grpSpPr>
          <a:xfrm>
            <a:off x="-90487" y="4949585"/>
            <a:ext cx="9324791" cy="449813"/>
            <a:chOff x="0" y="-47625"/>
            <a:chExt cx="4911921" cy="236943"/>
          </a:xfrm>
        </p:grpSpPr>
        <p:sp>
          <p:nvSpPr>
            <p:cNvPr id="399" name="Google Shape;399;p42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400" name="Google Shape;400;p42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" name="Google Shape;401;p42"/>
          <p:cNvSpPr txBox="1"/>
          <p:nvPr/>
        </p:nvSpPr>
        <p:spPr>
          <a:xfrm>
            <a:off x="357645" y="327346"/>
            <a:ext cx="610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데모 시연</a:t>
            </a:r>
            <a:endParaRPr sz="700"/>
          </a:p>
        </p:txBody>
      </p:sp>
      <p:pic>
        <p:nvPicPr>
          <p:cNvPr id="402" name="Google Shape;402;p42" title="CapstoneDesign - Lobby - Windows, Mac, Linux - Unity 2022.3.53f1_ _DX11_ 2025-06-08 19-34-3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4450" y="881450"/>
            <a:ext cx="5480315" cy="41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43"/>
          <p:cNvGrpSpPr/>
          <p:nvPr/>
        </p:nvGrpSpPr>
        <p:grpSpPr>
          <a:xfrm>
            <a:off x="-90487" y="4949585"/>
            <a:ext cx="9324791" cy="449921"/>
            <a:chOff x="0" y="-47625"/>
            <a:chExt cx="4911921" cy="237000"/>
          </a:xfrm>
        </p:grpSpPr>
        <p:sp>
          <p:nvSpPr>
            <p:cNvPr id="408" name="Google Shape;408;p43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409" name="Google Shape;409;p43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0" name="Google Shape;410;p43"/>
          <p:cNvSpPr txBox="1"/>
          <p:nvPr/>
        </p:nvSpPr>
        <p:spPr>
          <a:xfrm>
            <a:off x="357645" y="327346"/>
            <a:ext cx="610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데모 시연</a:t>
            </a:r>
            <a:endParaRPr sz="700"/>
          </a:p>
        </p:txBody>
      </p:sp>
      <p:pic>
        <p:nvPicPr>
          <p:cNvPr id="411" name="Google Shape;411;p43" title="CapstoneDesign - Lobby - Windows, Mac, Linux - Unity 2022.3.53f1_ _DX11_ 2025-06-08 19-36-09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73471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3" title="3.mp4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7347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44"/>
          <p:cNvGrpSpPr/>
          <p:nvPr/>
        </p:nvGrpSpPr>
        <p:grpSpPr>
          <a:xfrm>
            <a:off x="-90487" y="4949585"/>
            <a:ext cx="9324791" cy="449921"/>
            <a:chOff x="0" y="-47625"/>
            <a:chExt cx="4911921" cy="237000"/>
          </a:xfrm>
        </p:grpSpPr>
        <p:sp>
          <p:nvSpPr>
            <p:cNvPr id="418" name="Google Shape;418;p44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419" name="Google Shape;419;p44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p44"/>
          <p:cNvSpPr txBox="1"/>
          <p:nvPr/>
        </p:nvSpPr>
        <p:spPr>
          <a:xfrm>
            <a:off x="357645" y="327346"/>
            <a:ext cx="610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데모 시연</a:t>
            </a:r>
            <a:endParaRPr sz="700"/>
          </a:p>
        </p:txBody>
      </p:sp>
      <p:pic>
        <p:nvPicPr>
          <p:cNvPr id="421" name="Google Shape;421;p44" title="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1800" y="881450"/>
            <a:ext cx="5498275" cy="41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45"/>
          <p:cNvPicPr preferRelativeResize="0"/>
          <p:nvPr/>
        </p:nvPicPr>
        <p:blipFill rotWithShape="1">
          <a:blip r:embed="rId3">
            <a:alphaModFix/>
          </a:blip>
          <a:srcRect b="559" l="13309" r="224" t="1297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5"/>
          <p:cNvSpPr txBox="1"/>
          <p:nvPr/>
        </p:nvSpPr>
        <p:spPr>
          <a:xfrm>
            <a:off x="362408" y="2786451"/>
            <a:ext cx="39608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800" u="none" cap="none" strike="noStrike">
                <a:solidFill>
                  <a:srgbClr val="704F48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sz="700"/>
          </a:p>
        </p:txBody>
      </p:sp>
      <p:sp>
        <p:nvSpPr>
          <p:cNvPr id="428" name="Google Shape;428;p45"/>
          <p:cNvSpPr txBox="1"/>
          <p:nvPr/>
        </p:nvSpPr>
        <p:spPr>
          <a:xfrm>
            <a:off x="362408" y="2126845"/>
            <a:ext cx="39608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500" u="none" cap="none" strike="noStrike">
                <a:solidFill>
                  <a:srgbClr val="704F48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